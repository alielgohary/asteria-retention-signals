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ad3df1486c43d6" /><Relationship Type="http://schemas.openxmlformats.org/officeDocument/2006/relationships/extended-properties" Target="/docProps/app.xml" Id="R785574e644bd45ee" /><Relationship Type="http://schemas.openxmlformats.org/officeDocument/2006/relationships/officeDocument" Target="/ppt/presentation.xml" Id="R61ced44b81b94275" /></Relationships>
</file>

<file path=ppt/presentation.xml><?xml version="1.0" encoding="utf-8"?>
<p:presentation xmlns:p="http://schemas.openxmlformats.org/presentationml/2006/main">
  <p:sldMasterIdLst>
    <p:sldMasterId xmlns:r="http://schemas.openxmlformats.org/officeDocument/2006/relationships" id="2147483648" r:id="R99ec0dbf59bc4dfc"/>
  </p:sldMasterIdLst>
  <p:notesMasterIdLst>
    <p:notesMasterId xmlns:r="http://schemas.openxmlformats.org/officeDocument/2006/relationships" r:id="R3ef8f174175843c0"/>
  </p:notesMasterIdLst>
  <p:sldIdLst>
    <p:sldId xmlns:r="http://schemas.openxmlformats.org/officeDocument/2006/relationships" id="256" r:id="R85865dda383c40d0"/>
    <p:sldId xmlns:r="http://schemas.openxmlformats.org/officeDocument/2006/relationships" id="257" r:id="R22380bddd3f54089"/>
    <p:sldId xmlns:r="http://schemas.openxmlformats.org/officeDocument/2006/relationships" id="258" r:id="R864a32ebb6564f46"/>
    <p:sldId xmlns:r="http://schemas.openxmlformats.org/officeDocument/2006/relationships" id="259" r:id="R78aeb7c10ce54344"/>
    <p:sldId xmlns:r="http://schemas.openxmlformats.org/officeDocument/2006/relationships" id="260" r:id="R1b6e5b5ac7954b51"/>
    <p:sldId xmlns:r="http://schemas.openxmlformats.org/officeDocument/2006/relationships" id="261" r:id="R8a9d1b37e99349d1"/>
    <p:sldId xmlns:r="http://schemas.openxmlformats.org/officeDocument/2006/relationships" id="262" r:id="R9c34211d99ef46d0"/>
    <p:sldId xmlns:r="http://schemas.openxmlformats.org/officeDocument/2006/relationships" id="263" r:id="R4eca82e4aa2f4f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2a9c7d580b49c6" /><Relationship Type="http://schemas.openxmlformats.org/officeDocument/2006/relationships/slideMaster" Target="/ppt/slideMasters/slideMaster1.xml" Id="R99ec0dbf59bc4dfc" /><Relationship Type="http://schemas.openxmlformats.org/officeDocument/2006/relationships/notesMaster" Target="/ppt/notesMasters/notesMaster1.xml" Id="R3ef8f174175843c0" /><Relationship Type="http://schemas.openxmlformats.org/officeDocument/2006/relationships/presProps" Target="/ppt/presProps.xml" Id="Rc41d3aadd9da4ca0" /><Relationship Type="http://schemas.openxmlformats.org/officeDocument/2006/relationships/tableStyles" Target="/ppt/tableStyles.xml" Id="R56dabd119b39481a" /><Relationship Type="http://schemas.openxmlformats.org/officeDocument/2006/relationships/slide" Target="/ppt/slides/slide1.xml" Id="R85865dda383c40d0" /><Relationship Type="http://schemas.openxmlformats.org/officeDocument/2006/relationships/slide" Target="/ppt/slides/slide2.xml" Id="R22380bddd3f54089" /><Relationship Type="http://schemas.openxmlformats.org/officeDocument/2006/relationships/slide" Target="/ppt/slides/slide3.xml" Id="R864a32ebb6564f46" /><Relationship Type="http://schemas.openxmlformats.org/officeDocument/2006/relationships/slide" Target="/ppt/slides/slide4.xml" Id="R78aeb7c10ce54344" /><Relationship Type="http://schemas.openxmlformats.org/officeDocument/2006/relationships/slide" Target="/ppt/slides/slide5.xml" Id="R1b6e5b5ac7954b51" /><Relationship Type="http://schemas.openxmlformats.org/officeDocument/2006/relationships/slide" Target="/ppt/slides/slide6.xml" Id="R8a9d1b37e99349d1" /><Relationship Type="http://schemas.openxmlformats.org/officeDocument/2006/relationships/slide" Target="/ppt/slides/slide7.xml" Id="R9c34211d99ef46d0" /><Relationship Type="http://schemas.openxmlformats.org/officeDocument/2006/relationships/slide" Target="/ppt/slides/slide8.xml" Id="R4eca82e4aa2f4f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35d41cd52447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66446561b34a8e" /><Relationship Type="http://schemas.openxmlformats.org/officeDocument/2006/relationships/notesMaster" Target="/ppt/notesMasters/notesMaster1.xml" Id="R1310508189c74c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5c88eba81f4afe" /><Relationship Type="http://schemas.openxmlformats.org/officeDocument/2006/relationships/notesMaster" Target="/ppt/notesMasters/notesMaster1.xml" Id="R80608e640e3a4d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fa506c16c24b05" /><Relationship Type="http://schemas.openxmlformats.org/officeDocument/2006/relationships/notesMaster" Target="/ppt/notesMasters/notesMaster1.xml" Id="R552a480ed84343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3450120f944746" /><Relationship Type="http://schemas.openxmlformats.org/officeDocument/2006/relationships/notesMaster" Target="/ppt/notesMasters/notesMaster1.xml" Id="R2c6578c5f8a443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0c8d0e23d64866" /><Relationship Type="http://schemas.openxmlformats.org/officeDocument/2006/relationships/notesMaster" Target="/ppt/notesMasters/notesMaster1.xml" Id="R56092ec7d39747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c8abf4bc724ee1" /><Relationship Type="http://schemas.openxmlformats.org/officeDocument/2006/relationships/notesMaster" Target="/ppt/notesMasters/notesMaster1.xml" Id="Rac764b85da404b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0278e1dc814cf8" /><Relationship Type="http://schemas.openxmlformats.org/officeDocument/2006/relationships/notesMaster" Target="/ppt/notesMasters/notesMaster1.xml" Id="R9a1eaa2807244f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514721d9ce4aab" /><Relationship Type="http://schemas.openxmlformats.org/officeDocument/2006/relationships/notesMaster" Target="/ppt/notesMasters/notesMaster1.xml" Id="R195477cbf6a143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Asteria retention signals</a:t>
            </a:r>
          </a:p>
          <a:p xmlns:a="http://schemas.openxmlformats.org/drawingml/2006/main">
            <a:r>
              <a:t/>
            </a:r>
          </a:p>
          <a:p xmlns:a="http://schemas.openxmlformats.org/drawingml/2006/main">
            <a:r>
              <a:t>Software Emphasis assessment · Ali Elgohary · September 2026</a:t>
            </a:r>
          </a:p>
          <a:p xmlns:a="http://schemas.openxmlformats.org/drawingml/2006/main">
            <a:r>
              <a:t/>
            </a:r>
          </a:p>
          <a:p xmlns:a="http://schemas.openxmlformats.org/drawingml/2006/main">
            <a:r>
              <a:t>A reproducible local product for synthetic workforce retention and public market context.</a:t>
            </a:r>
          </a:p>
          <a:p xmlns:a="http://schemas.openxmlformats.org/drawingml/2006/main">
            <a:r>
              <a:t/>
            </a:r>
          </a:p>
          <a:p xmlns:a="http://schemas.openxmlformats.org/drawingml/2006/main">
            <a:r>
              <a:t>Presentation duration: 15 minutes. Slides 1–2: 3 minutes. Slides 3–4: 5 minutes. Slides 5–7: 4 minutes. Slide 8: 3 minutes.</a:t>
            </a:r>
          </a:p>
          <a:p xmlns:a="http://schemas.openxmlformats.org/drawingml/2006/main">
            <a:r>
              <a:t/>
            </a:r>
          </a:p>
          <a:p xmlns:a="http://schemas.openxmlformats.org/drawingml/2006/main">
            <a:r>
              <a:t>All workforce records are synthetic. Decision: identify retention questions worth investigating across BG, GR, IE, IT, PL and RO. No attrition forecasts or causal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2. Decision and metric definitions</a:t>
            </a:r>
          </a:p>
          <a:p xmlns:a="http://schemas.openxmlformats.org/drawingml/2006/main">
            <a:r>
              <a:t/>
            </a:r>
          </a:p>
          <a:p xmlns:a="http://schemas.openxmlformats.org/drawingml/2006/main">
            <a:r>
              <a:t>Help leaders identify retention questions worth investigating across BG, GR, IE, IT, PL and RO.</a:t>
            </a:r>
          </a:p>
          <a:p xmlns:a="http://schemas.openxmlformats.org/drawingml/2006/main">
            <a:r>
              <a:t/>
            </a:r>
          </a:p>
          <a:p xmlns:a="http://schemas.openxmlformats.org/drawingml/2006/main">
            <a:r>
              <a:t>- New hires: retained beyond day 183, target at least 86%.</a:t>
            </a:r>
          </a:p>
          <a:p xmlns:a="http://schemas.openxmlformats.org/drawingml/2006/main">
            <a:r>
              <a:t>- Senior hires: Managers and Senior Leaders retained beyond day 365, target at least 90%.</a:t>
            </a:r>
          </a:p>
          <a:p xmlns:a="http://schemas.openxmlformats.org/drawingml/2006/main">
            <a:r>
              <a:t>- Regretted turnover: trailing 365-day regretted exits / mean boundary headcount, target at most 7.5%.</a:t>
            </a:r>
          </a:p>
          <a:p xmlns:a="http://schemas.openxmlformats.org/drawingml/2006/main">
            <a:r>
              <a:t/>
            </a:r>
          </a:p>
          <a:p xmlns:a="http://schemas.openxmlformats.org/drawingml/2006/main">
            <a:r>
              <a:t>Recent hires remain censored. Cohort dates refer to hire months; outcomes use the 2025-12-31 extract. Current career labels approximate seniority at hire.</a:t>
            </a:r>
          </a:p>
          <a:p xmlns:a="http://schemas.openxmlformats.org/drawingml/2006/main">
            <a:r>
              <a:t/>
            </a:r>
          </a:p>
          <a:p xmlns:a="http://schemas.openxmlformats.org/drawingml/2006/main">
            <a:r>
              <a:t>Speaker note: Fixed day windows deliberately differ from calendar-month anniversaries. A termination on the observation day is not retained.</a:t>
            </a:r>
          </a:p>
          <a:p xmlns:a="http://schemas.openxmlformats.org/drawingml/2006/main">
            <a:r>
              <a:t/>
            </a:r>
          </a:p>
          <a:p xmlns:a="http://schemas.openxmlformats.org/drawingml/2006/main">
            <a:r>
              <a:t/>
            </a:r>
          </a:p>
          <a:p xmlns:a="http://schemas.openxmlformats.org/drawingml/2006/main">
            <a:r>
              <a:t>Timing: slides 1–2: 3 min; 3–4: 5 min; 5–7: 4 min; 8: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3. Architecture and reproducibility</a:t>
            </a:r>
          </a:p>
          <a:p xmlns:a="http://schemas.openxmlformats.org/drawingml/2006/main">
            <a:r>
              <a:t/>
            </a:r>
          </a:p>
          <a:p xmlns:a="http://schemas.openxmlformats.org/drawingml/2006/main">
            <a:r>
              <a:t>Saved public payloads feed canonical signals. Validated workforce records feed the retention calculations. Estimated as-of joins feed country associations and an HTML dashboard.</a:t>
            </a:r>
          </a:p>
          <a:p xmlns:a="http://schemas.openxmlformats.org/drawingml/2006/main">
            <a:r>
              <a:t/>
            </a:r>
          </a:p>
          <a:p xmlns:a="http://schemas.openxmlformats.org/drawingml/2006/main">
            <a:r>
              <a:t>One core command: `python -m asteria_retention.run`.</a:t>
            </a:r>
          </a:p>
          <a:p xmlns:a="http://schemas.openxmlformats.org/drawingml/2006/main">
            <a:r>
              <a:t/>
            </a:r>
          </a:p>
          <a:p xmlns:a="http://schemas.openxmlformats.org/drawingml/2006/main">
            <a:r>
              <a:t>SQL uses CTEs, `ROW_NUMBER`, a join to the supplied objectives, and conditional target status. Generated evidence includes lineage, coverage and exclusions. Repeated offline runs produce identical files.</a:t>
            </a:r>
          </a:p>
          <a:p xmlns:a="http://schemas.openxmlformats.org/drawingml/2006/main">
            <a:r>
              <a:t/>
            </a:r>
          </a:p>
          <a:p xmlns:a="http://schemas.openxmlformats.org/drawingml/2006/main">
            <a:r>
              <a:t>Production mapping: ADF schedules ingestion, lakehouse bronze retains versions, Databricks silver validates records, and gold serves Power BI. Managed identity/Key Vault, restricted workforce access and central telemetry support separate development, staging and production environments.</a:t>
            </a:r>
          </a:p>
          <a:p xmlns:a="http://schemas.openxmlformats.org/drawingml/2006/main">
            <a:r>
              <a:t/>
            </a:r>
          </a:p>
          <a:p xmlns:a="http://schemas.openxmlformats.org/drawingml/2006/main">
            <a:r>
              <a:t>Speaker note: Show `docs/architecture.md` for the production diagram and SQL for a concrete implementation example.</a:t>
            </a:r>
          </a:p>
          <a:p xmlns:a="http://schemas.openxmlformats.org/drawingml/2006/main">
            <a:r>
              <a:t/>
            </a:r>
          </a:p>
          <a:p xmlns:a="http://schemas.openxmlformats.org/drawingml/2006/main">
            <a:r>
              <a:t/>
            </a:r>
          </a:p>
          <a:p xmlns:a="http://schemas.openxmlformats.org/drawingml/2006/main">
            <a:r>
              <a:t>Timing: slides 1–2: 3 min; 3–4: 5 min; 5–7: 4 min; 8: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4. Sources and reliability</a:t>
            </a:r>
          </a:p>
          <a:p xmlns:a="http://schemas.openxmlformats.org/drawingml/2006/main">
            <a:r>
              <a:t/>
            </a:r>
          </a:p>
          <a:p xmlns:a="http://schemas.openxmlformats.org/drawingml/2006/main">
            <a:r>
              <a:t>Eurostat unemployment covers 60 months across six countries. Eurostat vacancy rates cover 20 quarters in BG, PL and RO. World Bank inflation covers five years across six countries.</a:t>
            </a:r>
          </a:p>
          <a:p xmlns:a="http://schemas.openxmlformats.org/drawingml/2006/main">
            <a:r>
              <a:t/>
            </a:r>
          </a:p>
          <a:p xmlns:a="http://schemas.openxmlformats.org/drawingml/2006/main">
            <a:r>
              <a:t>The pipeline preserves 450 original observations. Monthly, quarterly and annual frequencies remain explicit. Publication-lag estimates are 45, 90 and 120 days respectively.</a:t>
            </a:r>
          </a:p>
          <a:p xmlns:a="http://schemas.openxmlformats.org/drawingml/2006/main">
            <a:r>
              <a:t/>
            </a:r>
          </a:p>
          <a:p xmlns:a="http://schemas.openxmlformats.org/drawingml/2006/main">
            <a:r>
              <a:t>Validated refreshes replace each source atomically. Failed sources retain the previous usable snapshot and access time. Regression tests cover metric boundaries, quality defects, source errors and time alignment. Browser tests exercise filters, keyboard tooltips and empty/error states.</a:t>
            </a:r>
          </a:p>
          <a:p xmlns:a="http://schemas.openxmlformats.org/drawingml/2006/main">
            <a:r>
              <a:t/>
            </a:r>
          </a:p>
          <a:p xmlns:a="http://schemas.openxmlformats.org/drawingml/2006/main">
            <a:r>
              <a:t>Sources: [Eurostat unemployment](https://ec.europa.eu/eurostat/databrowser/view/UNE_RT_M/), [Eurostat vacancies](https://ec.europa.eu/eurostat/databrowser/view/JVS_Q_NACE2/), [World Bank inflation](https://data.worldbank.org/indicator/FP.CPI.TOTL.ZG). Snapshot date: 2026-09-25.</a:t>
            </a:r>
          </a:p>
          <a:p xmlns:a="http://schemas.openxmlformats.org/drawingml/2006/main">
            <a:r>
              <a:t/>
            </a:r>
          </a:p>
          <a:p xmlns:a="http://schemas.openxmlformats.org/drawingml/2006/main">
            <a:r>
              <a:t>Speaker note: These current revised snapshots do not reconstruct historical vintages. The original snapshot capture date is inherited metadata.</a:t>
            </a:r>
          </a:p>
          <a:p xmlns:a="http://schemas.openxmlformats.org/drawingml/2006/main">
            <a:r>
              <a:t/>
            </a:r>
          </a:p>
          <a:p xmlns:a="http://schemas.openxmlformats.org/drawingml/2006/main">
            <a:r>
              <a:t/>
            </a:r>
          </a:p>
          <a:p xmlns:a="http://schemas.openxmlformats.org/drawingml/2006/main">
            <a:r>
              <a:t>Timing: slides 1–2: 3 min; 3–4: 5 min; 5–7: 4 min; 8: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5. Senior retention misses the aggregate target</a:t>
            </a:r>
          </a:p>
          <a:p xmlns:a="http://schemas.openxmlformats.org/drawingml/2006/main">
            <a:r>
              <a:t/>
            </a:r>
          </a:p>
          <a:p xmlns:a="http://schemas.openxmlformats.org/drawingml/2006/main">
            <a:r>
              <a:t>Across mature cohorts, senior-hire twelve-month retention ranges from **78.7% to 83.3%**, below 90% in all six markets.</a:t>
            </a:r>
          </a:p>
          <a:p xmlns:a="http://schemas.openxmlformats.org/drawingml/2006/main">
            <a:r>
              <a:t/>
            </a:r>
          </a:p>
          <a:p xmlns:a="http://schemas.openxmlformats.org/drawingml/2006/main">
            <a:r>
              <a:t>New-hire six-month retention in Romania is **85.1%** (257/302), below 86%. The other country aggregates range from 86.5% to 88.8%.</a:t>
            </a:r>
          </a:p>
          <a:p xmlns:a="http://schemas.openxmlformats.org/drawingml/2006/main">
            <a:r>
              <a:t/>
            </a:r>
          </a:p>
          <a:p xmlns:a="http://schemas.openxmlformats.org/drawingml/2006/main">
            <a:r>
              <a:t>Across countries, Manager new-hire retention is 90.3%, compared with 85.4% for Individual Contributors and 85.6% for Senior Leaders.</a:t>
            </a:r>
          </a:p>
          <a:p xmlns:a="http://schemas.openxmlformats.org/drawingml/2006/main">
            <a:r>
              <a:t/>
            </a:r>
          </a:p>
          <a:p xmlns:a="http://schemas.openxmlformats.org/drawingml/2006/main">
            <a:r>
              <a:t>Evidence: `data/generated/retention_metrics.csv`. Rates pool retained and eligible counts across mature cohorts, rather than averaging monthly percentages. Overall and detailed segment rows are never summed together.</a:t>
            </a:r>
          </a:p>
          <a:p xmlns:a="http://schemas.openxmlformats.org/drawingml/2006/main">
            <a:r>
              <a:t/>
            </a:r>
          </a:p>
          <a:p xmlns:a="http://schemas.openxmlformats.org/drawingml/2006/main">
            <a:r>
              <a:t>Speaker note: Demonstrate objective, country, career-level and date filters. Explain that the latest-month card differs from these pooled findings and can have a very small denominator.</a:t>
            </a:r>
          </a:p>
          <a:p xmlns:a="http://schemas.openxmlformats.org/drawingml/2006/main">
            <a:r>
              <a:t/>
            </a:r>
          </a:p>
          <a:p xmlns:a="http://schemas.openxmlformats.org/drawingml/2006/main">
            <a:r>
              <a:t/>
            </a:r>
          </a:p>
          <a:p xmlns:a="http://schemas.openxmlformats.org/drawingml/2006/main">
            <a:r>
              <a:t>Timing: slides 1–2: 3 min; 3–4: 5 min; 5–7: 4 min; 8: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6. Latest regretted turnover meets the target</a:t>
            </a:r>
          </a:p>
          <a:p xmlns:a="http://schemas.openxmlformats.org/drawingml/2006/main">
            <a:r>
              <a:t/>
            </a:r>
          </a:p>
          <a:p xmlns:a="http://schemas.openxmlformats.org/drawingml/2006/main">
            <a:r>
              <a:t>At 2025-12-31, all six markets are below the 7.5% ceiling. Greece is at 2.8%; Romania is closest to the ceiling at 6.9%, from 17 exits / 245.5 average headcount.</a:t>
            </a:r>
          </a:p>
          <a:p xmlns:a="http://schemas.openxmlformats.org/drawingml/2006/main">
            <a:r>
              <a:t/>
            </a:r>
          </a:p>
          <a:p xmlns:a="http://schemas.openxmlformats.org/drawingml/2006/main">
            <a:r>
              <a:t>The corrected workforce contains **2,381 unique valid employees**. The pipeline excludes 26 rows, including seven duplicates. Fourteen valid terminations have unknown regretted status, so the regretted-exit numerator may be understated.</a:t>
            </a:r>
          </a:p>
          <a:p xmlns:a="http://schemas.openxmlformats.org/drawingml/2006/main">
            <a:r>
              <a:t/>
            </a:r>
          </a:p>
          <a:p xmlns:a="http://schemas.openxmlformats.org/drawingml/2006/main">
            <a:r>
              <a:t>Evidence: `data/generated/objective_status.csv` and `quality_report.json`.</a:t>
            </a:r>
          </a:p>
          <a:p xmlns:a="http://schemas.openxmlformats.org/drawingml/2006/main">
            <a:r>
              <a:t/>
            </a:r>
          </a:p>
          <a:p xmlns:a="http://schemas.openxmlformats.org/drawingml/2006/main">
            <a:r>
              <a:t>Speaker note: Meeting this objective does not erase the senior-retention shortfall. The populations and exit definitions differ.</a:t>
            </a:r>
          </a:p>
          <a:p xmlns:a="http://schemas.openxmlformats.org/drawingml/2006/main">
            <a:r>
              <a:t/>
            </a:r>
          </a:p>
          <a:p xmlns:a="http://schemas.openxmlformats.org/drawingml/2006/main">
            <a:r>
              <a:t/>
            </a:r>
          </a:p>
          <a:p xmlns:a="http://schemas.openxmlformats.org/drawingml/2006/main">
            <a:r>
              <a:t>Timing: slides 1–2: 3 min; 3–4: 5 min; 5–7: 4 min; 8: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7. External relationships remain uncertain</a:t>
            </a:r>
          </a:p>
          <a:p xmlns:a="http://schemas.openxmlformats.org/drawingml/2006/main">
            <a:r>
              <a:t/>
            </a:r>
          </a:p>
          <a:p xmlns:a="http://schemas.openxmlformats.org/drawingml/2006/main">
            <a:r>
              <a:t>New-hire retention versus inflation: **r = −0.76**, approximate 95% interval **−0.97 to 0.13**, six country averages.</a:t>
            </a:r>
          </a:p>
          <a:p xmlns:a="http://schemas.openxmlformats.org/drawingml/2006/main">
            <a:r>
              <a:t/>
            </a:r>
          </a:p>
          <a:p xmlns:a="http://schemas.openxmlformats.org/drawingml/2006/main">
            <a:r>
              <a:t>Unemployment versus new-hire retention: **r = 0.08**, interval **−0.78 to 0.84**.</a:t>
            </a:r>
          </a:p>
          <a:p xmlns:a="http://schemas.openxmlformats.org/drawingml/2006/main">
            <a:r>
              <a:t/>
            </a:r>
          </a:p>
          <a:p xmlns:a="http://schemas.openxmlformats.org/drawingml/2006/main">
            <a:r>
              <a:t>Senior retention versus vacancies: **r = −0.97**, but only **three countries**. No Fisher interval is reported.</a:t>
            </a:r>
          </a:p>
          <a:p xmlns:a="http://schemas.openxmlformats.org/drawingml/2006/main">
            <a:r>
              <a:t/>
            </a:r>
          </a:p>
          <a:p xmlns:a="http://schemas.openxmlformats.org/drawingml/2006/main">
            <a:r>
              <a:t>Repeated source periods are collapsed before country averaging. These exploratory comparisons lack controls for workforce composition and multiple comparisons. They support questions, not causal explanations or intervention choices.</a:t>
            </a:r>
          </a:p>
          <a:p xmlns:a="http://schemas.openxmlformats.org/drawingml/2006/main">
            <a:r>
              <a:t/>
            </a:r>
          </a:p>
          <a:p xmlns:a="http://schemas.openxmlformats.org/drawingml/2006/main">
            <a:r>
              <a:t>Evidence: `data/generated/association_summary.csv`. The selected dashboard country controls the trend; the relationship chart compares all available countries for the selected objective, segment, period range and indicator.</a:t>
            </a:r>
          </a:p>
          <a:p xmlns:a="http://schemas.openxmlformats.org/drawingml/2006/main">
            <a:r>
              <a:t/>
            </a:r>
          </a:p>
          <a:p xmlns:a="http://schemas.openxmlformats.org/drawingml/2006/main">
            <a:r>
              <a:t/>
            </a:r>
          </a:p>
          <a:p xmlns:a="http://schemas.openxmlformats.org/drawingml/2006/main">
            <a:r>
              <a:t>Timing: slides 1–2: 3 min; 3–4: 5 min; 5–7: 4 min; 8: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Tradeoffs, AI use and next steps</a:t>
            </a:r>
          </a:p>
          <a:p xmlns:a="http://schemas.openxmlformats.org/drawingml/2006/main">
            <a:r>
              <a:t/>
            </a:r>
          </a:p>
          <a:p xmlns:a="http://schemas.openxmlformats.org/drawingml/2006/main">
            <a:r>
              <a:t>I used Codex, Opus 5.5, Astra and Luna during development. My estimated effort before the final review was 6–8 hours, including reviewing the data and visualisations against my understanding of the requirements. Codex ran automated checks. AI_USAGE.md separates that work from my manual review.</a:t>
            </a:r>
          </a:p>
          <a:p xmlns:a="http://schemas.openxmlformats.org/drawingml/2006/main">
            <a:r>
              <a:t/>
            </a:r>
          </a:p>
          <a:p xmlns:a="http://schemas.openxmlformats.org/drawingml/2006/main">
            <a:r>
              <a:t>Development checks found failing tests, duplicate-inflated cohorts and a keyboard-tooltip defect. Corrections also replaced an unsupported correlation claim with measured results and uncertainty.</a:t>
            </a:r>
          </a:p>
          <a:p xmlns:a="http://schemas.openxmlformats.org/drawingml/2006/main">
            <a:r>
              <a:t/>
            </a:r>
          </a:p>
          <a:p xmlns:a="http://schemas.openxmlformats.org/drawingml/2006/main">
            <a:r>
              <a:t>Next steps: obtain historical source vintages and stable career histories, resolve unknown exit classifications, then assess pre-specified relationships with more independent observations. Production work adds governed access and monitored orchestration.</a:t>
            </a:r>
          </a:p>
          <a:p xmlns:a="http://schemas.openxmlformats.org/drawingml/2006/main">
            <a:r>
              <a:t/>
            </a:r>
          </a:p>
          <a:p xmlns:a="http://schemas.openxmlformats.org/drawingml/2006/main">
            <a:r>
              <a:t>Q&amp;A: explain the assumptions and demonstrate a boundary test or the SQL query.</a:t>
            </a:r>
          </a:p>
          <a:p xmlns:a="http://schemas.openxmlformats.org/drawingml/2006/main">
            <a:r>
              <a:t>Timing: 3 minutes. Overall deck: 15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3e6bff607249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7b1fda15e94834" /><Relationship Type="http://schemas.openxmlformats.org/officeDocument/2006/relationships/slideLayout" Target="/ppt/slideLayouts/slideLayout1.xml" Id="R22033480f7a243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033480f7a243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ff815493f84768" /><Relationship Type="http://schemas.openxmlformats.org/officeDocument/2006/relationships/notesSlide" Target="/ppt/notesSlides/notesSlide1.xml" Id="Rf97a55e1d6c24e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d42fc27cbe421b" /><Relationship Type="http://schemas.openxmlformats.org/officeDocument/2006/relationships/notesSlide" Target="/ppt/notesSlides/notesSlide2.xml" Id="Rec10bbb6b50344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95c88d15d94835" /><Relationship Type="http://schemas.openxmlformats.org/officeDocument/2006/relationships/notesSlide" Target="/ppt/notesSlides/notesSlide3.xml" Id="R2db33576dc534c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78595fd6e8432e" /><Relationship Type="http://schemas.openxmlformats.org/officeDocument/2006/relationships/notesSlide" Target="/ppt/notesSlides/notesSlide4.xml" Id="R2939f53ef4ce43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0682e7fab844c4" /><Relationship Type="http://schemas.openxmlformats.org/officeDocument/2006/relationships/chart" Target="/ppt/slides/charts/chart1.xml" Id="R42acf2daa8704ff6" /><Relationship Type="http://schemas.openxmlformats.org/officeDocument/2006/relationships/notesSlide" Target="/ppt/notesSlides/notesSlide5.xml" Id="Rf09aa1aeaf7c4f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0fb208e5ef49fa" /><Relationship Type="http://schemas.openxmlformats.org/officeDocument/2006/relationships/chart" Target="/ppt/slides/charts/chart2.xml" Id="Rddebb9d179e04844" /><Relationship Type="http://schemas.openxmlformats.org/officeDocument/2006/relationships/notesSlide" Target="/ppt/notesSlides/notesSlide6.xml" Id="Rb659e1962aff47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c731b6c4774f63" /><Relationship Type="http://schemas.openxmlformats.org/officeDocument/2006/relationships/notesSlide" Target="/ppt/notesSlides/notesSlide7.xml" Id="Re5d4c715be3b42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6c64e7a02a640e4" /><Relationship Type="http://schemas.openxmlformats.org/officeDocument/2006/relationships/notesSlide" Target="/ppt/notesSlides/notesSlide8.xml" Id="R3f4d4e300b23410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Senior retention</c:v>
          </c:tx>
          <c:spPr>
            <a:solidFill xmlns:a="http://schemas.openxmlformats.org/drawingml/2006/main">
              <a:srgbClr val="E84A5F"/>
            </a:solidFill>
          </c:spPr>
          <c:cat>
            <c:strRef>
              <c:f>'Chart Data'!$A$2:$A$7</c:f>
              <c:strCache>
                <c:ptCount val="6"/>
                <c:pt idx="0">
                  <c:v>BG</c:v>
                </c:pt>
                <c:pt idx="1">
                  <c:v>GR</c:v>
                </c:pt>
                <c:pt idx="2">
                  <c:v>IE</c:v>
                </c:pt>
                <c:pt idx="3">
                  <c:v>IT</c:v>
                </c:pt>
                <c:pt idx="4">
                  <c:v>PL</c:v>
                </c:pt>
                <c:pt idx="5">
                  <c:v>RO</c:v>
                </c:pt>
              </c:strCache>
            </c:strRef>
          </c:cat>
          <c:val>
            <c:numRef>
              <c:f>'Chart Data'!$B$2:$B$7</c:f>
              <c:numCache>
                <c:formatCode>0.0%</c:formatCode>
                <c:ptCount val="6"/>
                <c:pt idx="0">
                  <c:v>0.807142857143</c:v>
                </c:pt>
                <c:pt idx="1">
                  <c:v>0.833333333333</c:v>
                </c:pt>
                <c:pt idx="2">
                  <c:v>0.786885245902</c:v>
                </c:pt>
                <c:pt idx="3">
                  <c:v>0.812030075188</c:v>
                </c:pt>
                <c:pt idx="4">
                  <c:v>0.789855072464</c:v>
                </c:pt>
                <c:pt idx="5">
                  <c:v>0.821138211382</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7D98"/>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27D98"/>
                </a:solidFill>
                <a:latin typeface="Helvetica Neue"/>
                <a:ea typeface="Helvetica Neue"/>
                <a:cs typeface="Helvetica Neue"/>
              </a:defRPr>
            </a:pPr>
          </a:p>
        </c:txPr>
        <c:crossAx val="48650112"/>
        <c:crossBetween val="between"/>
        <c:majorUnit val="0.2"/>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Regretted turnover</c:v>
          </c:tx>
          <c:spPr>
            <a:solidFill xmlns:a="http://schemas.openxmlformats.org/drawingml/2006/main">
              <a:srgbClr val="2F80ED"/>
            </a:solidFill>
          </c:spPr>
          <c:cat>
            <c:strRef>
              <c:f>'Chart Data'!$A$2:$A$7</c:f>
              <c:strCache>
                <c:ptCount val="6"/>
                <c:pt idx="0">
                  <c:v>BG</c:v>
                </c:pt>
                <c:pt idx="1">
                  <c:v>GR</c:v>
                </c:pt>
                <c:pt idx="2">
                  <c:v>IE</c:v>
                </c:pt>
                <c:pt idx="3">
                  <c:v>IT</c:v>
                </c:pt>
                <c:pt idx="4">
                  <c:v>PL</c:v>
                </c:pt>
                <c:pt idx="5">
                  <c:v>RO</c:v>
                </c:pt>
              </c:strCache>
            </c:strRef>
          </c:cat>
          <c:val>
            <c:numRef>
              <c:f>'Chart Data'!$B$2:$B$7</c:f>
              <c:numCache>
                <c:formatCode>0.0%</c:formatCode>
                <c:ptCount val="6"/>
                <c:pt idx="0">
                  <c:v>0.0626151012891</c:v>
                </c:pt>
                <c:pt idx="1">
                  <c:v>0.0282685512367</c:v>
                </c:pt>
                <c:pt idx="2">
                  <c:v>0.0649350649351</c:v>
                </c:pt>
                <c:pt idx="3">
                  <c:v>0.0509090909091</c:v>
                </c:pt>
                <c:pt idx="4">
                  <c:v>0.0340909090909</c:v>
                </c:pt>
                <c:pt idx="5">
                  <c:v>0.0692464358452</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7D98"/>
                </a:solidFill>
                <a:latin typeface="Helvetica Neue"/>
                <a:ea typeface="Helvetica Neue"/>
                <a:cs typeface="Helvetica Neue"/>
              </a:defRPr>
            </a:pPr>
          </a:p>
        </c:txPr>
        <c:crossAx val="48672768"/>
      </c:catAx>
      <c:valAx>
        <c:axId val="48672768"/>
        <c:scaling>
          <c:orientation val="minMax"/>
          <c:max val="0.1"/>
          <c:min val="0"/>
        </c:scaling>
        <c:delete val="0"/>
        <c:axPos val="l"/>
        <c:majorGridlines>
          <c:spPr>
            <a:ln xmlns:a="http://schemas.openxmlformats.org/drawingml/2006/main" w="9525">
              <a:solidFill>
                <a:srgbClr val="D9E2E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27D98"/>
                </a:solidFill>
                <a:latin typeface="Helvetica Neue"/>
                <a:ea typeface="Helvetica Neue"/>
                <a:cs typeface="Helvetica Neue"/>
              </a:defRPr>
            </a:pPr>
          </a:p>
        </c:txPr>
        <c:crossAx val="48650112"/>
        <c:crossBetween val="between"/>
        <c:majorUnit val="0.02"/>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E3112F-E310-4157-9192-760B55C97CFB}"/>
              </a:ext>
            </a:extLst>
          </p:cNvPr>
          <p:cNvSpPr>
            <a:spLocks xmlns:a="http://schemas.openxmlformats.org/drawingml/2006/main" noGrp="1"/>
          </p:cNvSpPr>
          <p:nvPr/>
        </p:nvSpPr>
        <p:spPr>
          <a:xfrm xmlns:a="http://schemas.openxmlformats.org/drawingml/2006/main">
            <a:off x="762000" y="15240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Asteria retention signals</a:t>
            </a:r>
          </a:p>
        </p:txBody>
      </p:sp>
      <p:sp>
        <p:nvSpPr>
          <p:cNvPr id="2" name="">
            <a:extLst xmlns:a="http://schemas.openxmlformats.org/drawingml/2006/main">
              <a:ext uri="{FF2B5EF4-FFF2-40B4-BE49-F238E27FC236}">
                <a16:creationId xmlns:a16="http://schemas.microsoft.com/office/drawing/2014/main" id="{382B0345-B3B0-446C-8135-665F49C90F0D}"/>
              </a:ext>
            </a:extLst>
          </p:cNvPr>
          <p:cNvSpPr>
            <a:spLocks xmlns:a="http://schemas.openxmlformats.org/drawingml/2006/main" noGrp="1"/>
          </p:cNvSpPr>
          <p:nvPr/>
        </p:nvSpPr>
        <p:spPr>
          <a:xfrm xmlns:a="http://schemas.openxmlformats.org/drawingml/2006/main">
            <a:off x="800100" y="2609850"/>
            <a:ext cx="8286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9E2EC"/>
                </a:solidFill>
                <a:latin typeface="Helvetica Neue"/>
                <a:ea typeface="Helvetica Neue"/>
                <a:cs typeface="Helvetica Neue"/>
              </a:defRPr>
            </a:pPr>
            <a:r>
              <a:rPr sz="1875" b="0">
                <a:solidFill>
                  <a:srgbClr val="D9E2EC"/>
                </a:solidFill>
                <a:latin typeface="Helvetica Neue"/>
                <a:ea typeface="Helvetica Neue"/>
                <a:cs typeface="Helvetica Neue"/>
              </a:rPr>
              <a:t>A reproducible workforce-retention product with public labour-market context</a:t>
            </a:r>
          </a:p>
        </p:txBody>
      </p:sp>
      <p:sp>
        <p:nvSpPr>
          <p:cNvPr id="3" name="">
            <a:extLst xmlns:a="http://schemas.openxmlformats.org/drawingml/2006/main">
              <a:ext uri="{FF2B5EF4-FFF2-40B4-BE49-F238E27FC236}">
                <a16:creationId xmlns:a16="http://schemas.microsoft.com/office/drawing/2014/main" id="{0DEB0D39-9785-4656-B7AF-4EE9D0F6C5DF}"/>
              </a:ext>
            </a:extLst>
          </p:cNvPr>
          <p:cNvSpPr>
            <a:spLocks xmlns:a="http://schemas.openxmlformats.org/drawingml/2006/main" noGrp="1"/>
          </p:cNvSpPr>
          <p:nvPr/>
        </p:nvSpPr>
        <p:spPr>
          <a:xfrm xmlns:a="http://schemas.openxmlformats.org/drawingml/2006/main">
            <a:off x="800100" y="3705225"/>
            <a:ext cx="1314450" cy="76200"/>
          </a:xfrm>
          <a:prstGeom xmlns:a="http://schemas.openxmlformats.org/drawingml/2006/main" prst="rect">
            <a:avLst/>
          </a:prstGeom>
          <a:solidFill xmlns:a="http://schemas.openxmlformats.org/drawingml/2006/main">
            <a:srgbClr val="F6B73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287AB7-7EE3-4B02-AF52-0E8529E7D8FB}"/>
              </a:ext>
            </a:extLst>
          </p:cNvPr>
          <p:cNvSpPr>
            <a:spLocks xmlns:a="http://schemas.openxmlformats.org/drawingml/2006/main" noGrp="1"/>
          </p:cNvSpPr>
          <p:nvPr/>
        </p:nvSpPr>
        <p:spPr>
          <a:xfrm xmlns:a="http://schemas.openxmlformats.org/drawingml/2006/main">
            <a:off x="800100" y="4114800"/>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BBF77"/>
                </a:solidFill>
                <a:latin typeface="Helvetica Neue"/>
                <a:ea typeface="Helvetica Neue"/>
                <a:cs typeface="Helvetica Neue"/>
              </a:defRPr>
            </a:pPr>
            <a:r>
              <a:rPr sz="1500" b="1">
                <a:solidFill>
                  <a:srgbClr val="FBBF77"/>
                </a:solidFill>
                <a:latin typeface="Helvetica Neue"/>
                <a:ea typeface="Helvetica Neue"/>
                <a:cs typeface="Helvetica Neue"/>
              </a:rPr>
              <a:t>Software Emphasis · Technical assignment</a:t>
            </a:r>
          </a:p>
        </p:txBody>
      </p:sp>
      <p:sp>
        <p:nvSpPr>
          <p:cNvPr id="5" name="">
            <a:extLst xmlns:a="http://schemas.openxmlformats.org/drawingml/2006/main">
              <a:ext uri="{FF2B5EF4-FFF2-40B4-BE49-F238E27FC236}">
                <a16:creationId xmlns:a16="http://schemas.microsoft.com/office/drawing/2014/main" id="{B002E3A1-A849-4332-97CF-0AD067C3F07F}"/>
              </a:ext>
            </a:extLst>
          </p:cNvPr>
          <p:cNvSpPr>
            <a:spLocks xmlns:a="http://schemas.openxmlformats.org/drawingml/2006/main" noGrp="1"/>
          </p:cNvSpPr>
          <p:nvPr/>
        </p:nvSpPr>
        <p:spPr>
          <a:xfrm xmlns:a="http://schemas.openxmlformats.org/drawingml/2006/main">
            <a:off x="800100" y="590550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9FB3C8"/>
                </a:solidFill>
                <a:latin typeface="Helvetica Neue"/>
                <a:ea typeface="Helvetica Neue"/>
                <a:cs typeface="Helvetica Neue"/>
              </a:defRPr>
            </a:pPr>
            <a:r>
              <a:rPr sz="1350" b="0">
                <a:solidFill>
                  <a:srgbClr val="9FB3C8"/>
                </a:solidFill>
                <a:latin typeface="Helvetica Neue"/>
                <a:ea typeface="Helvetica Neue"/>
                <a:cs typeface="Helvetica Neue"/>
              </a:rPr>
              <a:t>Ali Elgohary · September 2026</a:t>
            </a:r>
          </a:p>
        </p:txBody>
      </p:sp>
    </p:spTree>
    <p:extLst>
      <p:ext uri="{BB962C8B-B14F-4D97-AF65-F5344CB8AC3E}">
        <p14:creationId xmlns:p14="http://schemas.microsoft.com/office/powerpoint/2010/main" val="311075743"/>
      </p:ext>
    </p:extLst>
  </p:cSld>
</p:sld>
</file>

<file path=ppt/slides/slide2.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45B030-40ED-42B4-872C-93722093FBDF}"/>
              </a:ext>
            </a:extLst>
          </p:cNvPr>
          <p:cNvSpPr>
            <a:spLocks xmlns:a="http://schemas.openxmlformats.org/drawingml/2006/main" noGrp="1"/>
          </p:cNvSpPr>
          <p:nvPr/>
        </p:nvSpPr>
        <p:spPr>
          <a:xfrm xmlns:a="http://schemas.openxmlformats.org/drawingml/2006/main">
            <a:off x="704850" y="49530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3B53"/>
                </a:solidFill>
                <a:latin typeface="Helvetica Neue"/>
                <a:ea typeface="Helvetica Neue"/>
                <a:cs typeface="Helvetica Neue"/>
              </a:defRPr>
            </a:pPr>
            <a:r>
              <a:rPr sz="2550" b="1">
                <a:solidFill>
                  <a:srgbClr val="243B53"/>
                </a:solidFill>
                <a:latin typeface="Helvetica Neue"/>
                <a:ea typeface="Helvetica Neue"/>
                <a:cs typeface="Helvetica Neue"/>
              </a:rPr>
              <a:t>Decision and metric definitions</a:t>
            </a:r>
          </a:p>
        </p:txBody>
      </p:sp>
      <p:sp>
        <p:nvSpPr>
          <p:cNvPr id="2" name="">
            <a:extLst xmlns:a="http://schemas.openxmlformats.org/drawingml/2006/main">
              <a:ext uri="{FF2B5EF4-FFF2-40B4-BE49-F238E27FC236}">
                <a16:creationId xmlns:a16="http://schemas.microsoft.com/office/drawing/2014/main" id="{A79E6F21-832A-4621-83E4-F84956B178ED}"/>
              </a:ext>
            </a:extLst>
          </p:cNvPr>
          <p:cNvSpPr>
            <a:spLocks xmlns:a="http://schemas.openxmlformats.org/drawingml/2006/main" noGrp="1"/>
          </p:cNvSpPr>
          <p:nvPr/>
        </p:nvSpPr>
        <p:spPr>
          <a:xfrm xmlns:a="http://schemas.openxmlformats.org/drawingml/2006/main">
            <a:off x="10953750" y="5524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8F47B003-355B-4AE3-9E77-CFF5DD98195D}"/>
              </a:ext>
            </a:extLst>
          </p:cNvPr>
          <p:cNvSpPr>
            <a:spLocks xmlns:a="http://schemas.openxmlformats.org/drawingml/2006/main" noGrp="1"/>
          </p:cNvSpPr>
          <p:nvPr/>
        </p:nvSpPr>
        <p:spPr>
          <a:xfrm xmlns:a="http://schemas.openxmlformats.org/drawingml/2006/main">
            <a:off x="704850" y="1152525"/>
            <a:ext cx="781050" cy="57150"/>
          </a:xfrm>
          <a:prstGeom xmlns:a="http://schemas.openxmlformats.org/drawingml/2006/main" prst="rect">
            <a:avLst/>
          </a:prstGeom>
          <a:solidFill xmlns:a="http://schemas.openxmlformats.org/drawingml/2006/main">
            <a:srgbClr val="E84A5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426762-D560-494B-8AC8-49A441F3C8BE}"/>
              </a:ext>
            </a:extLst>
          </p:cNvPr>
          <p:cNvSpPr>
            <a:spLocks xmlns:a="http://schemas.openxmlformats.org/drawingml/2006/main" noGrp="1"/>
          </p:cNvSpPr>
          <p:nvPr/>
        </p:nvSpPr>
        <p:spPr>
          <a:xfrm xmlns:a="http://schemas.openxmlformats.org/drawingml/2006/main">
            <a:off x="762000" y="14954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Where should leaders investigate retention across six markets?</a:t>
            </a:r>
          </a:p>
        </p:txBody>
      </p:sp>
      <p:sp>
        <p:nvSpPr>
          <p:cNvPr id="5" name="">
            <a:extLst xmlns:a="http://schemas.openxmlformats.org/drawingml/2006/main">
              <a:ext uri="{FF2B5EF4-FFF2-40B4-BE49-F238E27FC236}">
                <a16:creationId xmlns:a16="http://schemas.microsoft.com/office/drawing/2014/main" id="{222F306B-20D3-4AD5-AECE-FD90AA5C7035}"/>
              </a:ext>
            </a:extLst>
          </p:cNvPr>
          <p:cNvSpPr>
            <a:spLocks xmlns:a="http://schemas.openxmlformats.org/drawingml/2006/main" noGrp="1"/>
          </p:cNvSpPr>
          <p:nvPr/>
        </p:nvSpPr>
        <p:spPr>
          <a:xfrm xmlns:a="http://schemas.openxmlformats.org/drawingml/2006/main">
            <a:off x="762000" y="2228850"/>
            <a:ext cx="95250" cy="857250"/>
          </a:xfrm>
          <a:prstGeom xmlns:a="http://schemas.openxmlformats.org/drawingml/2006/main" prst="rect">
            <a:avLst/>
          </a:prstGeom>
          <a:solidFill xmlns:a="http://schemas.openxmlformats.org/drawingml/2006/main">
            <a:srgbClr val="2F80E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A37271B-32A9-4948-88C3-9CB482C8A710}"/>
              </a:ext>
            </a:extLst>
          </p:cNvPr>
          <p:cNvSpPr>
            <a:spLocks xmlns:a="http://schemas.openxmlformats.org/drawingml/2006/main" noGrp="1"/>
          </p:cNvSpPr>
          <p:nvPr/>
        </p:nvSpPr>
        <p:spPr>
          <a:xfrm xmlns:a="http://schemas.openxmlformats.org/drawingml/2006/main">
            <a:off x="1066800" y="2228850"/>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New-hire retention</a:t>
            </a:r>
          </a:p>
        </p:txBody>
      </p:sp>
      <p:sp>
        <p:nvSpPr>
          <p:cNvPr id="7" name="">
            <a:extLst xmlns:a="http://schemas.openxmlformats.org/drawingml/2006/main">
              <a:ext uri="{FF2B5EF4-FFF2-40B4-BE49-F238E27FC236}">
                <a16:creationId xmlns:a16="http://schemas.microsoft.com/office/drawing/2014/main" id="{94A14FA5-CDFC-4ABA-AD8A-C7D12E237449}"/>
              </a:ext>
            </a:extLst>
          </p:cNvPr>
          <p:cNvSpPr>
            <a:spLocks xmlns:a="http://schemas.openxmlformats.org/drawingml/2006/main" noGrp="1"/>
          </p:cNvSpPr>
          <p:nvPr/>
        </p:nvSpPr>
        <p:spPr>
          <a:xfrm xmlns:a="http://schemas.openxmlformats.org/drawingml/2006/main">
            <a:off x="1066800" y="2609850"/>
            <a:ext cx="762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27D98"/>
                </a:solidFill>
                <a:latin typeface="Helvetica Neue"/>
                <a:ea typeface="Helvetica Neue"/>
                <a:cs typeface="Helvetica Neue"/>
              </a:defRPr>
            </a:pPr>
            <a:r>
              <a:rPr sz="1500" b="0">
                <a:solidFill>
                  <a:srgbClr val="627D98"/>
                </a:solidFill>
                <a:latin typeface="Helvetica Neue"/>
                <a:ea typeface="Helvetica Neue"/>
                <a:cs typeface="Helvetica Neue"/>
              </a:rPr>
              <a:t>Retained beyond day 183 ÷ eligible hires</a:t>
            </a:r>
          </a:p>
        </p:txBody>
      </p:sp>
      <p:sp>
        <p:nvSpPr>
          <p:cNvPr id="8" name="">
            <a:extLst xmlns:a="http://schemas.openxmlformats.org/drawingml/2006/main">
              <a:ext uri="{FF2B5EF4-FFF2-40B4-BE49-F238E27FC236}">
                <a16:creationId xmlns:a16="http://schemas.microsoft.com/office/drawing/2014/main" id="{260A55D8-D013-42A8-AE66-D565535D11AA}"/>
              </a:ext>
            </a:extLst>
          </p:cNvPr>
          <p:cNvSpPr>
            <a:spLocks xmlns:a="http://schemas.openxmlformats.org/drawingml/2006/main" noGrp="1"/>
          </p:cNvSpPr>
          <p:nvPr/>
        </p:nvSpPr>
        <p:spPr>
          <a:xfrm xmlns:a="http://schemas.openxmlformats.org/drawingml/2006/main">
            <a:off x="9667875" y="2400300"/>
            <a:ext cx="1762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3B53"/>
                </a:solidFill>
                <a:latin typeface="Helvetica Neue"/>
                <a:ea typeface="Helvetica Neue"/>
                <a:cs typeface="Helvetica Neue"/>
              </a:defRPr>
            </a:pPr>
            <a:r>
              <a:rPr sz="2400" b="1">
                <a:solidFill>
                  <a:srgbClr val="243B53"/>
                </a:solidFill>
                <a:latin typeface="Helvetica Neue"/>
                <a:ea typeface="Helvetica Neue"/>
                <a:cs typeface="Helvetica Neue"/>
              </a:rPr>
              <a:t>≥ 86%</a:t>
            </a:r>
          </a:p>
        </p:txBody>
      </p:sp>
      <p:sp>
        <p:nvSpPr>
          <p:cNvPr id="9" name="">
            <a:extLst xmlns:a="http://schemas.openxmlformats.org/drawingml/2006/main">
              <a:ext uri="{FF2B5EF4-FFF2-40B4-BE49-F238E27FC236}">
                <a16:creationId xmlns:a16="http://schemas.microsoft.com/office/drawing/2014/main" id="{C0CF4CA7-E416-4B58-BBED-F0B13DC69F7A}"/>
              </a:ext>
            </a:extLst>
          </p:cNvPr>
          <p:cNvSpPr>
            <a:spLocks xmlns:a="http://schemas.openxmlformats.org/drawingml/2006/main" noGrp="1"/>
          </p:cNvSpPr>
          <p:nvPr/>
        </p:nvSpPr>
        <p:spPr>
          <a:xfrm xmlns:a="http://schemas.openxmlformats.org/drawingml/2006/main">
            <a:off x="762000" y="3352800"/>
            <a:ext cx="95250" cy="857250"/>
          </a:xfrm>
          <a:prstGeom xmlns:a="http://schemas.openxmlformats.org/drawingml/2006/main" prst="rect">
            <a:avLst/>
          </a:prstGeom>
          <a:solidFill xmlns:a="http://schemas.openxmlformats.org/drawingml/2006/main">
            <a:srgbClr val="E84A5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F3C25D9-1586-4B6F-8B12-AB399BB394DC}"/>
              </a:ext>
            </a:extLst>
          </p:cNvPr>
          <p:cNvSpPr>
            <a:spLocks xmlns:a="http://schemas.openxmlformats.org/drawingml/2006/main" noGrp="1"/>
          </p:cNvSpPr>
          <p:nvPr/>
        </p:nvSpPr>
        <p:spPr>
          <a:xfrm xmlns:a="http://schemas.openxmlformats.org/drawingml/2006/main">
            <a:off x="1066800" y="3352800"/>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Senior-hire retention</a:t>
            </a:r>
          </a:p>
        </p:txBody>
      </p:sp>
      <p:sp>
        <p:nvSpPr>
          <p:cNvPr id="11" name="">
            <a:extLst xmlns:a="http://schemas.openxmlformats.org/drawingml/2006/main">
              <a:ext uri="{FF2B5EF4-FFF2-40B4-BE49-F238E27FC236}">
                <a16:creationId xmlns:a16="http://schemas.microsoft.com/office/drawing/2014/main" id="{0BF44B71-5E08-4AC2-A589-20EC806808E6}"/>
              </a:ext>
            </a:extLst>
          </p:cNvPr>
          <p:cNvSpPr>
            <a:spLocks xmlns:a="http://schemas.openxmlformats.org/drawingml/2006/main" noGrp="1"/>
          </p:cNvSpPr>
          <p:nvPr/>
        </p:nvSpPr>
        <p:spPr>
          <a:xfrm xmlns:a="http://schemas.openxmlformats.org/drawingml/2006/main">
            <a:off x="1066800" y="3733800"/>
            <a:ext cx="762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27D98"/>
                </a:solidFill>
                <a:latin typeface="Helvetica Neue"/>
                <a:ea typeface="Helvetica Neue"/>
                <a:cs typeface="Helvetica Neue"/>
              </a:defRPr>
            </a:pPr>
            <a:r>
              <a:rPr sz="1500" b="0">
                <a:solidFill>
                  <a:srgbClr val="627D98"/>
                </a:solidFill>
                <a:latin typeface="Helvetica Neue"/>
                <a:ea typeface="Helvetica Neue"/>
                <a:cs typeface="Helvetica Neue"/>
              </a:rPr>
              <a:t>Managers and Senior Leaders beyond day 365</a:t>
            </a:r>
          </a:p>
        </p:txBody>
      </p:sp>
      <p:sp>
        <p:nvSpPr>
          <p:cNvPr id="12" name="">
            <a:extLst xmlns:a="http://schemas.openxmlformats.org/drawingml/2006/main">
              <a:ext uri="{FF2B5EF4-FFF2-40B4-BE49-F238E27FC236}">
                <a16:creationId xmlns:a16="http://schemas.microsoft.com/office/drawing/2014/main" id="{91CF5526-4A25-47EE-BD4F-BA07FE175A9F}"/>
              </a:ext>
            </a:extLst>
          </p:cNvPr>
          <p:cNvSpPr>
            <a:spLocks xmlns:a="http://schemas.openxmlformats.org/drawingml/2006/main" noGrp="1"/>
          </p:cNvSpPr>
          <p:nvPr/>
        </p:nvSpPr>
        <p:spPr>
          <a:xfrm xmlns:a="http://schemas.openxmlformats.org/drawingml/2006/main">
            <a:off x="9667875" y="3524250"/>
            <a:ext cx="1762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3B53"/>
                </a:solidFill>
                <a:latin typeface="Helvetica Neue"/>
                <a:ea typeface="Helvetica Neue"/>
                <a:cs typeface="Helvetica Neue"/>
              </a:defRPr>
            </a:pPr>
            <a:r>
              <a:rPr sz="2400" b="1">
                <a:solidFill>
                  <a:srgbClr val="243B53"/>
                </a:solidFill>
                <a:latin typeface="Helvetica Neue"/>
                <a:ea typeface="Helvetica Neue"/>
                <a:cs typeface="Helvetica Neue"/>
              </a:rPr>
              <a:t>≥ 90%</a:t>
            </a:r>
          </a:p>
        </p:txBody>
      </p:sp>
      <p:sp>
        <p:nvSpPr>
          <p:cNvPr id="13" name="">
            <a:extLst xmlns:a="http://schemas.openxmlformats.org/drawingml/2006/main">
              <a:ext uri="{FF2B5EF4-FFF2-40B4-BE49-F238E27FC236}">
                <a16:creationId xmlns:a16="http://schemas.microsoft.com/office/drawing/2014/main" id="{0C9AC6D8-934F-486B-8C61-419D699EDF7D}"/>
              </a:ext>
            </a:extLst>
          </p:cNvPr>
          <p:cNvSpPr>
            <a:spLocks xmlns:a="http://schemas.openxmlformats.org/drawingml/2006/main" noGrp="1"/>
          </p:cNvSpPr>
          <p:nvPr/>
        </p:nvSpPr>
        <p:spPr>
          <a:xfrm xmlns:a="http://schemas.openxmlformats.org/drawingml/2006/main">
            <a:off x="762000" y="4476750"/>
            <a:ext cx="95250" cy="857250"/>
          </a:xfrm>
          <a:prstGeom xmlns:a="http://schemas.openxmlformats.org/drawingml/2006/main" prst="rect">
            <a:avLst/>
          </a:prstGeom>
          <a:solidFill xmlns:a="http://schemas.openxmlformats.org/drawingml/2006/main">
            <a:srgbClr val="F6B7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2BEEF50-C26D-4D27-B6ED-CEB3BB2CC272}"/>
              </a:ext>
            </a:extLst>
          </p:cNvPr>
          <p:cNvSpPr>
            <a:spLocks xmlns:a="http://schemas.openxmlformats.org/drawingml/2006/main" noGrp="1"/>
          </p:cNvSpPr>
          <p:nvPr/>
        </p:nvSpPr>
        <p:spPr>
          <a:xfrm xmlns:a="http://schemas.openxmlformats.org/drawingml/2006/main">
            <a:off x="1066800" y="4476750"/>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Regretted turnover</a:t>
            </a:r>
          </a:p>
        </p:txBody>
      </p:sp>
      <p:sp>
        <p:nvSpPr>
          <p:cNvPr id="15" name="">
            <a:extLst xmlns:a="http://schemas.openxmlformats.org/drawingml/2006/main">
              <a:ext uri="{FF2B5EF4-FFF2-40B4-BE49-F238E27FC236}">
                <a16:creationId xmlns:a16="http://schemas.microsoft.com/office/drawing/2014/main" id="{E94AA561-2434-42EC-878B-AB75F3D252F2}"/>
              </a:ext>
            </a:extLst>
          </p:cNvPr>
          <p:cNvSpPr>
            <a:spLocks xmlns:a="http://schemas.openxmlformats.org/drawingml/2006/main" noGrp="1"/>
          </p:cNvSpPr>
          <p:nvPr/>
        </p:nvSpPr>
        <p:spPr>
          <a:xfrm xmlns:a="http://schemas.openxmlformats.org/drawingml/2006/main">
            <a:off x="1066800" y="4857750"/>
            <a:ext cx="762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27D98"/>
                </a:solidFill>
                <a:latin typeface="Helvetica Neue"/>
                <a:ea typeface="Helvetica Neue"/>
                <a:cs typeface="Helvetica Neue"/>
              </a:defRPr>
            </a:pPr>
            <a:r>
              <a:rPr sz="1500" b="0">
                <a:solidFill>
                  <a:srgbClr val="627D98"/>
                </a:solidFill>
                <a:latin typeface="Helvetica Neue"/>
                <a:ea typeface="Helvetica Neue"/>
                <a:cs typeface="Helvetica Neue"/>
              </a:rPr>
              <a:t>Trailing 365-day regretted exits ÷ mean boundary headcount</a:t>
            </a:r>
          </a:p>
        </p:txBody>
      </p:sp>
      <p:sp>
        <p:nvSpPr>
          <p:cNvPr id="16" name="">
            <a:extLst xmlns:a="http://schemas.openxmlformats.org/drawingml/2006/main">
              <a:ext uri="{FF2B5EF4-FFF2-40B4-BE49-F238E27FC236}">
                <a16:creationId xmlns:a16="http://schemas.microsoft.com/office/drawing/2014/main" id="{7436C3E6-E626-404F-88D3-6438E2E56F7C}"/>
              </a:ext>
            </a:extLst>
          </p:cNvPr>
          <p:cNvSpPr>
            <a:spLocks xmlns:a="http://schemas.openxmlformats.org/drawingml/2006/main" noGrp="1"/>
          </p:cNvSpPr>
          <p:nvPr/>
        </p:nvSpPr>
        <p:spPr>
          <a:xfrm xmlns:a="http://schemas.openxmlformats.org/drawingml/2006/main">
            <a:off x="9667875" y="4648200"/>
            <a:ext cx="1762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3B53"/>
                </a:solidFill>
                <a:latin typeface="Helvetica Neue"/>
                <a:ea typeface="Helvetica Neue"/>
                <a:cs typeface="Helvetica Neue"/>
              </a:defRPr>
            </a:pPr>
            <a:r>
              <a:rPr sz="2400" b="1">
                <a:solidFill>
                  <a:srgbClr val="243B53"/>
                </a:solidFill>
                <a:latin typeface="Helvetica Neue"/>
                <a:ea typeface="Helvetica Neue"/>
                <a:cs typeface="Helvetica Neue"/>
              </a:rPr>
              <a:t>≤ 7.5%</a:t>
            </a:r>
          </a:p>
        </p:txBody>
      </p:sp>
      <p:sp>
        <p:nvSpPr>
          <p:cNvPr id="17" name="">
            <a:extLst xmlns:a="http://schemas.openxmlformats.org/drawingml/2006/main">
              <a:ext uri="{FF2B5EF4-FFF2-40B4-BE49-F238E27FC236}">
                <a16:creationId xmlns:a16="http://schemas.microsoft.com/office/drawing/2014/main" id="{0E019FCA-A31C-407B-BEE6-0EDA32036757}"/>
              </a:ext>
            </a:extLst>
          </p:cNvPr>
          <p:cNvSpPr>
            <a:spLocks xmlns:a="http://schemas.openxmlformats.org/drawingml/2006/main" noGrp="1"/>
          </p:cNvSpPr>
          <p:nvPr/>
        </p:nvSpPr>
        <p:spPr>
          <a:xfrm xmlns:a="http://schemas.openxmlformats.org/drawingml/2006/main">
            <a:off x="762000" y="58102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27D98"/>
                </a:solidFill>
                <a:latin typeface="Helvetica Neue"/>
                <a:ea typeface="Helvetica Neue"/>
                <a:cs typeface="Helvetica Neue"/>
              </a:defRPr>
            </a:pPr>
            <a:r>
              <a:rPr sz="1425" b="0">
                <a:solidFill>
                  <a:srgbClr val="627D98"/>
                </a:solidFill>
                <a:latin typeface="Helvetica Neue"/>
                <a:ea typeface="Helvetica Neue"/>
                <a:cs typeface="Helvetica Neue"/>
              </a:rPr>
              <a:t>Recent hires are censored. Outcomes use the 2025-12-31 extract.</a:t>
            </a:r>
          </a:p>
          <a:p xmlns:a="http://schemas.openxmlformats.org/drawingml/2006/main">
            <a:pPr>
              <a:defRPr sz="1425" b="0">
                <a:solidFill>
                  <a:srgbClr val="627D98"/>
                </a:solidFill>
                <a:latin typeface="Helvetica Neue"/>
                <a:ea typeface="Helvetica Neue"/>
                <a:cs typeface="Helvetica Neue"/>
              </a:defRPr>
            </a:pPr>
            <a:r>
              <a:rPr sz="1425" b="0">
                <a:solidFill>
                  <a:srgbClr val="627D98"/>
                </a:solidFill>
                <a:latin typeface="Helvetica Neue"/>
                <a:ea typeface="Helvetica Neue"/>
                <a:cs typeface="Helvetica Neue"/>
              </a:rPr>
              <a:t>Current career labels approximate seniority at hire; fixed days differ from calendar months.</a:t>
            </a:r>
          </a:p>
        </p:txBody>
      </p:sp>
    </p:spTree>
    <p:extLst>
      <p:ext uri="{BB962C8B-B14F-4D97-AF65-F5344CB8AC3E}">
        <p14:creationId xmlns:p14="http://schemas.microsoft.com/office/powerpoint/2010/main" val="18004978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8AC8925-00E4-41DA-A7FE-52C1CA3B0CB4}"/>
              </a:ext>
            </a:extLst>
          </p:cNvPr>
          <p:cNvSpPr>
            <a:spLocks xmlns:a="http://schemas.openxmlformats.org/drawingml/2006/main" noGrp="1"/>
          </p:cNvSpPr>
          <p:nvPr/>
        </p:nvSpPr>
        <p:spPr>
          <a:xfrm xmlns:a="http://schemas.openxmlformats.org/drawingml/2006/main">
            <a:off x="704850" y="49530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3B53"/>
                </a:solidFill>
                <a:latin typeface="Helvetica Neue"/>
                <a:ea typeface="Helvetica Neue"/>
                <a:cs typeface="Helvetica Neue"/>
              </a:defRPr>
            </a:pPr>
            <a:r>
              <a:rPr sz="2550" b="1">
                <a:solidFill>
                  <a:srgbClr val="243B53"/>
                </a:solidFill>
                <a:latin typeface="Helvetica Neue"/>
                <a:ea typeface="Helvetica Neue"/>
                <a:cs typeface="Helvetica Neue"/>
              </a:rPr>
              <a:t>Architecture and reproducibility</a:t>
            </a:r>
          </a:p>
        </p:txBody>
      </p:sp>
      <p:sp>
        <p:nvSpPr>
          <p:cNvPr id="2" name="">
            <a:extLst xmlns:a="http://schemas.openxmlformats.org/drawingml/2006/main">
              <a:ext uri="{FF2B5EF4-FFF2-40B4-BE49-F238E27FC236}">
                <a16:creationId xmlns:a16="http://schemas.microsoft.com/office/drawing/2014/main" id="{30E51077-DC9E-44A4-BCA7-0804BD26DA88}"/>
              </a:ext>
            </a:extLst>
          </p:cNvPr>
          <p:cNvSpPr>
            <a:spLocks xmlns:a="http://schemas.openxmlformats.org/drawingml/2006/main" noGrp="1"/>
          </p:cNvSpPr>
          <p:nvPr/>
        </p:nvSpPr>
        <p:spPr>
          <a:xfrm xmlns:a="http://schemas.openxmlformats.org/drawingml/2006/main">
            <a:off x="10953750" y="5524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1233E7E0-A09E-408F-83B4-C9788BD8326E}"/>
              </a:ext>
            </a:extLst>
          </p:cNvPr>
          <p:cNvSpPr>
            <a:spLocks xmlns:a="http://schemas.openxmlformats.org/drawingml/2006/main" noGrp="1"/>
          </p:cNvSpPr>
          <p:nvPr/>
        </p:nvSpPr>
        <p:spPr>
          <a:xfrm xmlns:a="http://schemas.openxmlformats.org/drawingml/2006/main">
            <a:off x="704850" y="1152525"/>
            <a:ext cx="781050" cy="57150"/>
          </a:xfrm>
          <a:prstGeom xmlns:a="http://schemas.openxmlformats.org/drawingml/2006/main" prst="rect">
            <a:avLst/>
          </a:prstGeom>
          <a:solidFill xmlns:a="http://schemas.openxmlformats.org/drawingml/2006/main">
            <a:srgbClr val="E84A5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2B62213-B4FA-4970-9986-F0FDFEDCBF04}"/>
              </a:ext>
            </a:extLst>
          </p:cNvPr>
          <p:cNvSpPr>
            <a:spLocks xmlns:a="http://schemas.openxmlformats.org/drawingml/2006/main" noGrp="1"/>
          </p:cNvSpPr>
          <p:nvPr/>
        </p:nvSpPr>
        <p:spPr>
          <a:xfrm xmlns:a="http://schemas.openxmlformats.org/drawingml/2006/main">
            <a:off x="666750" y="2028825"/>
            <a:ext cx="2286000" cy="1619250"/>
          </a:xfrm>
          <a:prstGeom xmlns:a="http://schemas.openxmlformats.org/drawingml/2006/main" prst="rect">
            <a:avLst/>
          </a:prstGeom>
          <a:solidFill xmlns:a="http://schemas.openxmlformats.org/drawingml/2006/main">
            <a:srgbClr val="2F80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092096-C606-46B4-AC19-970E02BBB30C}"/>
              </a:ext>
            </a:extLst>
          </p:cNvPr>
          <p:cNvSpPr>
            <a:spLocks xmlns:a="http://schemas.openxmlformats.org/drawingml/2006/main" noGrp="1"/>
          </p:cNvSpPr>
          <p:nvPr/>
        </p:nvSpPr>
        <p:spPr>
          <a:xfrm xmlns:a="http://schemas.openxmlformats.org/drawingml/2006/main">
            <a:off x="828675" y="220027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Saved inputs</a:t>
            </a:r>
          </a:p>
        </p:txBody>
      </p:sp>
      <p:sp>
        <p:nvSpPr>
          <p:cNvPr id="6" name="">
            <a:extLst xmlns:a="http://schemas.openxmlformats.org/drawingml/2006/main">
              <a:ext uri="{FF2B5EF4-FFF2-40B4-BE49-F238E27FC236}">
                <a16:creationId xmlns:a16="http://schemas.microsoft.com/office/drawing/2014/main" id="{CCDBCBE5-F4E6-4866-8216-E8F57BD841AE}"/>
              </a:ext>
            </a:extLst>
          </p:cNvPr>
          <p:cNvSpPr>
            <a:spLocks xmlns:a="http://schemas.openxmlformats.org/drawingml/2006/main" noGrp="1"/>
          </p:cNvSpPr>
          <p:nvPr/>
        </p:nvSpPr>
        <p:spPr>
          <a:xfrm xmlns:a="http://schemas.openxmlformats.org/drawingml/2006/main">
            <a:off x="828675" y="2743200"/>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Public payloads</a:t>
            </a:r>
          </a:p>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Synthetic lifecycle events</a:t>
            </a:r>
          </a:p>
        </p:txBody>
      </p:sp>
      <p:sp>
        <p:nvSpPr>
          <p:cNvPr id="7" name="">
            <a:extLst xmlns:a="http://schemas.openxmlformats.org/drawingml/2006/main">
              <a:ext uri="{FF2B5EF4-FFF2-40B4-BE49-F238E27FC236}">
                <a16:creationId xmlns:a16="http://schemas.microsoft.com/office/drawing/2014/main" id="{C3F1DBFF-824E-4118-A398-D1A19238F0D6}"/>
              </a:ext>
            </a:extLst>
          </p:cNvPr>
          <p:cNvSpPr>
            <a:spLocks xmlns:a="http://schemas.openxmlformats.org/drawingml/2006/main" noGrp="1"/>
          </p:cNvSpPr>
          <p:nvPr/>
        </p:nvSpPr>
        <p:spPr>
          <a:xfrm xmlns:a="http://schemas.openxmlformats.org/drawingml/2006/main">
            <a:off x="3038475" y="2619375"/>
            <a:ext cx="33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627D98"/>
                </a:solidFill>
                <a:latin typeface="Helvetica Neue"/>
                <a:ea typeface="Helvetica Neue"/>
                <a:cs typeface="Helvetica Neue"/>
              </a:defRPr>
            </a:pPr>
            <a:r>
              <a:rPr sz="2775" b="1">
                <a:solidFill>
                  <a:srgbClr val="627D98"/>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2983E55C-A756-456D-BEEB-CF2521ED193A}"/>
              </a:ext>
            </a:extLst>
          </p:cNvPr>
          <p:cNvSpPr>
            <a:spLocks xmlns:a="http://schemas.openxmlformats.org/drawingml/2006/main" noGrp="1"/>
          </p:cNvSpPr>
          <p:nvPr/>
        </p:nvSpPr>
        <p:spPr>
          <a:xfrm xmlns:a="http://schemas.openxmlformats.org/drawingml/2006/main">
            <a:off x="3476625" y="2028825"/>
            <a:ext cx="2286000" cy="1619250"/>
          </a:xfrm>
          <a:prstGeom xmlns:a="http://schemas.openxmlformats.org/drawingml/2006/main" prst="rect">
            <a:avLst/>
          </a:prstGeom>
          <a:solidFill xmlns:a="http://schemas.openxmlformats.org/drawingml/2006/main">
            <a:srgbClr val="E84A5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B3ABE9F-D3CE-41DB-A8D8-3FACBEDD69F9}"/>
              </a:ext>
            </a:extLst>
          </p:cNvPr>
          <p:cNvSpPr>
            <a:spLocks xmlns:a="http://schemas.openxmlformats.org/drawingml/2006/main" noGrp="1"/>
          </p:cNvSpPr>
          <p:nvPr/>
        </p:nvSpPr>
        <p:spPr>
          <a:xfrm xmlns:a="http://schemas.openxmlformats.org/drawingml/2006/main">
            <a:off x="3638550" y="220027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Canonical records</a:t>
            </a:r>
          </a:p>
        </p:txBody>
      </p:sp>
      <p:sp>
        <p:nvSpPr>
          <p:cNvPr id="10" name="">
            <a:extLst xmlns:a="http://schemas.openxmlformats.org/drawingml/2006/main">
              <a:ext uri="{FF2B5EF4-FFF2-40B4-BE49-F238E27FC236}">
                <a16:creationId xmlns:a16="http://schemas.microsoft.com/office/drawing/2014/main" id="{7E5956F1-1F36-4996-B82A-62AD52B47151}"/>
              </a:ext>
            </a:extLst>
          </p:cNvPr>
          <p:cNvSpPr>
            <a:spLocks xmlns:a="http://schemas.openxmlformats.org/drawingml/2006/main" noGrp="1"/>
          </p:cNvSpPr>
          <p:nvPr/>
        </p:nvSpPr>
        <p:spPr>
          <a:xfrm xmlns:a="http://schemas.openxmlformats.org/drawingml/2006/main">
            <a:off x="3638550" y="2743200"/>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Periods and units</a:t>
            </a:r>
          </a:p>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Validated workforce</a:t>
            </a:r>
          </a:p>
        </p:txBody>
      </p:sp>
      <p:sp>
        <p:nvSpPr>
          <p:cNvPr id="11" name="">
            <a:extLst xmlns:a="http://schemas.openxmlformats.org/drawingml/2006/main">
              <a:ext uri="{FF2B5EF4-FFF2-40B4-BE49-F238E27FC236}">
                <a16:creationId xmlns:a16="http://schemas.microsoft.com/office/drawing/2014/main" id="{3A4A46AD-013F-4E58-B33C-402F8421C820}"/>
              </a:ext>
            </a:extLst>
          </p:cNvPr>
          <p:cNvSpPr>
            <a:spLocks xmlns:a="http://schemas.openxmlformats.org/drawingml/2006/main" noGrp="1"/>
          </p:cNvSpPr>
          <p:nvPr/>
        </p:nvSpPr>
        <p:spPr>
          <a:xfrm xmlns:a="http://schemas.openxmlformats.org/drawingml/2006/main">
            <a:off x="5848350" y="2619375"/>
            <a:ext cx="33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627D98"/>
                </a:solidFill>
                <a:latin typeface="Helvetica Neue"/>
                <a:ea typeface="Helvetica Neue"/>
                <a:cs typeface="Helvetica Neue"/>
              </a:defRPr>
            </a:pPr>
            <a:r>
              <a:rPr sz="2775" b="1">
                <a:solidFill>
                  <a:srgbClr val="627D98"/>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8D4B6AA5-834C-4845-A888-9F021161DDED}"/>
              </a:ext>
            </a:extLst>
          </p:cNvPr>
          <p:cNvSpPr>
            <a:spLocks xmlns:a="http://schemas.openxmlformats.org/drawingml/2006/main" noGrp="1"/>
          </p:cNvSpPr>
          <p:nvPr/>
        </p:nvSpPr>
        <p:spPr>
          <a:xfrm xmlns:a="http://schemas.openxmlformats.org/drawingml/2006/main">
            <a:off x="6286500" y="2028825"/>
            <a:ext cx="2286000" cy="1619250"/>
          </a:xfrm>
          <a:prstGeom xmlns:a="http://schemas.openxmlformats.org/drawingml/2006/main" prst="rect">
            <a:avLst/>
          </a:prstGeom>
          <a:solidFill xmlns:a="http://schemas.openxmlformats.org/drawingml/2006/main">
            <a:srgbClr val="F6B73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7C5341-0AD5-4A4F-BD5A-D46CE4CF1BB0}"/>
              </a:ext>
            </a:extLst>
          </p:cNvPr>
          <p:cNvSpPr>
            <a:spLocks xmlns:a="http://schemas.openxmlformats.org/drawingml/2006/main" noGrp="1"/>
          </p:cNvSpPr>
          <p:nvPr/>
        </p:nvSpPr>
        <p:spPr>
          <a:xfrm xmlns:a="http://schemas.openxmlformats.org/drawingml/2006/main">
            <a:off x="6448425" y="220027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Metrics and context</a:t>
            </a:r>
          </a:p>
        </p:txBody>
      </p:sp>
      <p:sp>
        <p:nvSpPr>
          <p:cNvPr id="14" name="">
            <a:extLst xmlns:a="http://schemas.openxmlformats.org/drawingml/2006/main">
              <a:ext uri="{FF2B5EF4-FFF2-40B4-BE49-F238E27FC236}">
                <a16:creationId xmlns:a16="http://schemas.microsoft.com/office/drawing/2014/main" id="{0215A116-DC57-4C88-9201-81EE5F17C7C7}"/>
              </a:ext>
            </a:extLst>
          </p:cNvPr>
          <p:cNvSpPr>
            <a:spLocks xmlns:a="http://schemas.openxmlformats.org/drawingml/2006/main" noGrp="1"/>
          </p:cNvSpPr>
          <p:nvPr/>
        </p:nvSpPr>
        <p:spPr>
          <a:xfrm xmlns:a="http://schemas.openxmlformats.org/drawingml/2006/main">
            <a:off x="6448425" y="2743200"/>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02A43"/>
                </a:solidFill>
                <a:latin typeface="Helvetica Neue"/>
                <a:ea typeface="Helvetica Neue"/>
                <a:cs typeface="Helvetica Neue"/>
              </a:defRPr>
            </a:pPr>
            <a:r>
              <a:rPr sz="1500" b="0">
                <a:solidFill>
                  <a:srgbClr val="102A43"/>
                </a:solidFill>
                <a:latin typeface="Helvetica Neue"/>
                <a:ea typeface="Helvetica Neue"/>
                <a:cs typeface="Helvetica Neue"/>
              </a:rPr>
              <a:t>Cohort eligibility</a:t>
            </a:r>
          </a:p>
          <a:p xmlns:a="http://schemas.openxmlformats.org/drawingml/2006/main">
            <a:pPr>
              <a:defRPr sz="1500" b="0">
                <a:solidFill>
                  <a:srgbClr val="102A43"/>
                </a:solidFill>
                <a:latin typeface="Helvetica Neue"/>
                <a:ea typeface="Helvetica Neue"/>
                <a:cs typeface="Helvetica Neue"/>
              </a:defRPr>
            </a:pPr>
            <a:r>
              <a:rPr sz="1500" b="0">
                <a:solidFill>
                  <a:srgbClr val="102A43"/>
                </a:solidFill>
                <a:latin typeface="Helvetica Neue"/>
                <a:ea typeface="Helvetica Neue"/>
                <a:cs typeface="Helvetica Neue"/>
              </a:rPr>
              <a:t>Estimated as-of joins</a:t>
            </a:r>
          </a:p>
        </p:txBody>
      </p:sp>
      <p:sp>
        <p:nvSpPr>
          <p:cNvPr id="15" name="">
            <a:extLst xmlns:a="http://schemas.openxmlformats.org/drawingml/2006/main">
              <a:ext uri="{FF2B5EF4-FFF2-40B4-BE49-F238E27FC236}">
                <a16:creationId xmlns:a16="http://schemas.microsoft.com/office/drawing/2014/main" id="{A654CC3A-2823-4A3A-9804-E955EFB11F60}"/>
              </a:ext>
            </a:extLst>
          </p:cNvPr>
          <p:cNvSpPr>
            <a:spLocks xmlns:a="http://schemas.openxmlformats.org/drawingml/2006/main" noGrp="1"/>
          </p:cNvSpPr>
          <p:nvPr/>
        </p:nvSpPr>
        <p:spPr>
          <a:xfrm xmlns:a="http://schemas.openxmlformats.org/drawingml/2006/main">
            <a:off x="8658225" y="2619375"/>
            <a:ext cx="33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627D98"/>
                </a:solidFill>
                <a:latin typeface="Helvetica Neue"/>
                <a:ea typeface="Helvetica Neue"/>
                <a:cs typeface="Helvetica Neue"/>
              </a:defRPr>
            </a:pPr>
            <a:r>
              <a:rPr sz="2775" b="1">
                <a:solidFill>
                  <a:srgbClr val="627D98"/>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98315914-F6E8-45D2-8EC0-E423F5B02807}"/>
              </a:ext>
            </a:extLst>
          </p:cNvPr>
          <p:cNvSpPr>
            <a:spLocks xmlns:a="http://schemas.openxmlformats.org/drawingml/2006/main" noGrp="1"/>
          </p:cNvSpPr>
          <p:nvPr/>
        </p:nvSpPr>
        <p:spPr>
          <a:xfrm xmlns:a="http://schemas.openxmlformats.org/drawingml/2006/main">
            <a:off x="9096375" y="2028825"/>
            <a:ext cx="2286000" cy="1619250"/>
          </a:xfrm>
          <a:prstGeom xmlns:a="http://schemas.openxmlformats.org/drawingml/2006/main" prst="rect">
            <a:avLst/>
          </a:prstGeom>
          <a:solidFill xmlns:a="http://schemas.openxmlformats.org/drawingml/2006/main">
            <a:srgbClr val="087F5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DB8A365-F8F6-43BC-9EE1-7C082987298E}"/>
              </a:ext>
            </a:extLst>
          </p:cNvPr>
          <p:cNvSpPr>
            <a:spLocks xmlns:a="http://schemas.openxmlformats.org/drawingml/2006/main" noGrp="1"/>
          </p:cNvSpPr>
          <p:nvPr/>
        </p:nvSpPr>
        <p:spPr>
          <a:xfrm xmlns:a="http://schemas.openxmlformats.org/drawingml/2006/main">
            <a:off x="9258300" y="220027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Local product</a:t>
            </a:r>
          </a:p>
        </p:txBody>
      </p:sp>
      <p:sp>
        <p:nvSpPr>
          <p:cNvPr id="18" name="">
            <a:extLst xmlns:a="http://schemas.openxmlformats.org/drawingml/2006/main">
              <a:ext uri="{FF2B5EF4-FFF2-40B4-BE49-F238E27FC236}">
                <a16:creationId xmlns:a16="http://schemas.microsoft.com/office/drawing/2014/main" id="{B5DE7EA0-B02B-41CD-AE03-4211451DE61F}"/>
              </a:ext>
            </a:extLst>
          </p:cNvPr>
          <p:cNvSpPr>
            <a:spLocks xmlns:a="http://schemas.openxmlformats.org/drawingml/2006/main" noGrp="1"/>
          </p:cNvSpPr>
          <p:nvPr/>
        </p:nvSpPr>
        <p:spPr>
          <a:xfrm xmlns:a="http://schemas.openxmlformats.org/drawingml/2006/main">
            <a:off x="9258300" y="2743200"/>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SQL target status</a:t>
            </a:r>
          </a:p>
          <a:p xmlns:a="http://schemas.openxmlformats.org/drawingml/2006/main">
            <a:pPr>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Evidence + dashboard</a:t>
            </a:r>
          </a:p>
        </p:txBody>
      </p:sp>
      <p:sp>
        <p:nvSpPr>
          <p:cNvPr id="19" name="">
            <a:extLst xmlns:a="http://schemas.openxmlformats.org/drawingml/2006/main">
              <a:ext uri="{FF2B5EF4-FFF2-40B4-BE49-F238E27FC236}">
                <a16:creationId xmlns:a16="http://schemas.microsoft.com/office/drawing/2014/main" id="{DE39B38E-B370-4FD8-9A45-DAEC87F9BB8D}"/>
              </a:ext>
            </a:extLst>
          </p:cNvPr>
          <p:cNvSpPr>
            <a:spLocks xmlns:a="http://schemas.openxmlformats.org/drawingml/2006/main" noGrp="1"/>
          </p:cNvSpPr>
          <p:nvPr/>
        </p:nvSpPr>
        <p:spPr>
          <a:xfrm xmlns:a="http://schemas.openxmlformats.org/drawingml/2006/main">
            <a:off x="762000" y="40195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python -m asteria_retention.run</a:t>
            </a:r>
          </a:p>
        </p:txBody>
      </p:sp>
      <p:sp>
        <p:nvSpPr>
          <p:cNvPr id="20" name="">
            <a:extLst xmlns:a="http://schemas.openxmlformats.org/drawingml/2006/main">
              <a:ext uri="{FF2B5EF4-FFF2-40B4-BE49-F238E27FC236}">
                <a16:creationId xmlns:a16="http://schemas.microsoft.com/office/drawing/2014/main" id="{EAB8ADA2-3B74-4246-80F0-E47C71163AF8}"/>
              </a:ext>
            </a:extLst>
          </p:cNvPr>
          <p:cNvSpPr>
            <a:spLocks xmlns:a="http://schemas.openxmlformats.org/drawingml/2006/main" noGrp="1"/>
          </p:cNvSpPr>
          <p:nvPr/>
        </p:nvSpPr>
        <p:spPr>
          <a:xfrm xmlns:a="http://schemas.openxmlformats.org/drawingml/2006/main">
            <a:off x="762000" y="45148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D98"/>
                </a:solidFill>
                <a:latin typeface="Helvetica Neue"/>
                <a:ea typeface="Helvetica Neue"/>
                <a:cs typeface="Helvetica Neue"/>
              </a:defRPr>
            </a:pPr>
            <a:r>
              <a:rPr sz="1650" b="0">
                <a:solidFill>
                  <a:srgbClr val="627D98"/>
                </a:solidFill>
                <a:latin typeface="Helvetica Neue"/>
                <a:ea typeface="Helvetica Neue"/>
                <a:cs typeface="Helvetica Neue"/>
              </a:rPr>
              <a:t>Offline reruns produce identical evidence. SQL uses CTEs, ROW_NUMBER,</a:t>
            </a:r>
          </a:p>
          <a:p xmlns:a="http://schemas.openxmlformats.org/drawingml/2006/main">
            <a:pPr>
              <a:defRPr sz="1650" b="0">
                <a:solidFill>
                  <a:srgbClr val="627D98"/>
                </a:solidFill>
                <a:latin typeface="Helvetica Neue"/>
                <a:ea typeface="Helvetica Neue"/>
                <a:cs typeface="Helvetica Neue"/>
              </a:defRPr>
            </a:pPr>
            <a:r>
              <a:rPr sz="1650" b="0">
                <a:solidFill>
                  <a:srgbClr val="627D98"/>
                </a:solidFill>
                <a:latin typeface="Helvetica Neue"/>
                <a:ea typeface="Helvetica Neue"/>
                <a:cs typeface="Helvetica Neue"/>
              </a:rPr>
              <a:t>an objective-target join and conditional status.</a:t>
            </a:r>
          </a:p>
        </p:txBody>
      </p:sp>
      <p:sp>
        <p:nvSpPr>
          <p:cNvPr id="21" name="">
            <a:extLst xmlns:a="http://schemas.openxmlformats.org/drawingml/2006/main">
              <a:ext uri="{FF2B5EF4-FFF2-40B4-BE49-F238E27FC236}">
                <a16:creationId xmlns:a16="http://schemas.microsoft.com/office/drawing/2014/main" id="{25ACCEEC-7FCC-47AB-A6FF-3DA55589285D}"/>
              </a:ext>
            </a:extLst>
          </p:cNvPr>
          <p:cNvSpPr>
            <a:spLocks xmlns:a="http://schemas.openxmlformats.org/drawingml/2006/main" noGrp="1"/>
          </p:cNvSpPr>
          <p:nvPr/>
        </p:nvSpPr>
        <p:spPr>
          <a:xfrm xmlns:a="http://schemas.openxmlformats.org/drawingml/2006/main">
            <a:off x="762000" y="54197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84A5F"/>
                </a:solidFill>
                <a:latin typeface="Helvetica Neue"/>
                <a:ea typeface="Helvetica Neue"/>
                <a:cs typeface="Helvetica Neue"/>
              </a:defRPr>
            </a:pPr>
            <a:r>
              <a:rPr sz="1500" b="1">
                <a:solidFill>
                  <a:srgbClr val="E84A5F"/>
                </a:solidFill>
                <a:latin typeface="Helvetica Neue"/>
                <a:ea typeface="Helvetica Neue"/>
                <a:cs typeface="Helvetica Neue"/>
              </a:rPr>
              <a:t>Production design</a:t>
            </a:r>
          </a:p>
        </p:txBody>
      </p:sp>
      <p:sp>
        <p:nvSpPr>
          <p:cNvPr id="22" name="">
            <a:extLst xmlns:a="http://schemas.openxmlformats.org/drawingml/2006/main">
              <a:ext uri="{FF2B5EF4-FFF2-40B4-BE49-F238E27FC236}">
                <a16:creationId xmlns:a16="http://schemas.microsoft.com/office/drawing/2014/main" id="{8550CFEB-4AC4-4FB6-B622-65248FD8CF60}"/>
              </a:ext>
            </a:extLst>
          </p:cNvPr>
          <p:cNvSpPr>
            <a:spLocks xmlns:a="http://schemas.openxmlformats.org/drawingml/2006/main" noGrp="1"/>
          </p:cNvSpPr>
          <p:nvPr/>
        </p:nvSpPr>
        <p:spPr>
          <a:xfrm xmlns:a="http://schemas.openxmlformats.org/drawingml/2006/main">
            <a:off x="762000" y="57816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ADF → bronze snapshots → Databricks silver → gold / Power BI</a:t>
            </a:r>
          </a:p>
          <a:p xmlns:a="http://schemas.openxmlformats.org/drawingml/2006/main">
            <a:pPr>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Managed identity and Key Vault · restricted access · telemetry · separate environments</a:t>
            </a:r>
          </a:p>
        </p:txBody>
      </p:sp>
    </p:spTree>
    <p:extLst>
      <p:ext uri="{BB962C8B-B14F-4D97-AF65-F5344CB8AC3E}">
        <p14:creationId xmlns:p14="http://schemas.microsoft.com/office/powerpoint/2010/main" val="1651186230"/>
      </p:ext>
    </p:extLst>
  </p:cSld>
</p:sld>
</file>

<file path=ppt/slides/slide4.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6CD40C2-5E41-471C-8D9F-845ACBD5D9CF}"/>
              </a:ext>
            </a:extLst>
          </p:cNvPr>
          <p:cNvSpPr>
            <a:spLocks xmlns:a="http://schemas.openxmlformats.org/drawingml/2006/main" noGrp="1"/>
          </p:cNvSpPr>
          <p:nvPr/>
        </p:nvSpPr>
        <p:spPr>
          <a:xfrm xmlns:a="http://schemas.openxmlformats.org/drawingml/2006/main">
            <a:off x="704850" y="49530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3B53"/>
                </a:solidFill>
                <a:latin typeface="Helvetica Neue"/>
                <a:ea typeface="Helvetica Neue"/>
                <a:cs typeface="Helvetica Neue"/>
              </a:defRPr>
            </a:pPr>
            <a:r>
              <a:rPr sz="2550" b="1">
                <a:solidFill>
                  <a:srgbClr val="243B53"/>
                </a:solidFill>
                <a:latin typeface="Helvetica Neue"/>
                <a:ea typeface="Helvetica Neue"/>
                <a:cs typeface="Helvetica Neue"/>
              </a:rPr>
              <a:t>Sources and reliability</a:t>
            </a:r>
          </a:p>
        </p:txBody>
      </p:sp>
      <p:sp>
        <p:nvSpPr>
          <p:cNvPr id="2" name="">
            <a:extLst xmlns:a="http://schemas.openxmlformats.org/drawingml/2006/main">
              <a:ext uri="{FF2B5EF4-FFF2-40B4-BE49-F238E27FC236}">
                <a16:creationId xmlns:a16="http://schemas.microsoft.com/office/drawing/2014/main" id="{C81138E1-14B8-485E-A586-7A0A37A2EB8A}"/>
              </a:ext>
            </a:extLst>
          </p:cNvPr>
          <p:cNvSpPr>
            <a:spLocks xmlns:a="http://schemas.openxmlformats.org/drawingml/2006/main" noGrp="1"/>
          </p:cNvSpPr>
          <p:nvPr/>
        </p:nvSpPr>
        <p:spPr>
          <a:xfrm xmlns:a="http://schemas.openxmlformats.org/drawingml/2006/main">
            <a:off x="10953750" y="5524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32A3845B-A4A7-482D-A3E6-66218E0163D7}"/>
              </a:ext>
            </a:extLst>
          </p:cNvPr>
          <p:cNvSpPr>
            <a:spLocks xmlns:a="http://schemas.openxmlformats.org/drawingml/2006/main" noGrp="1"/>
          </p:cNvSpPr>
          <p:nvPr/>
        </p:nvSpPr>
        <p:spPr>
          <a:xfrm xmlns:a="http://schemas.openxmlformats.org/drawingml/2006/main">
            <a:off x="704850" y="1152525"/>
            <a:ext cx="781050" cy="57150"/>
          </a:xfrm>
          <a:prstGeom xmlns:a="http://schemas.openxmlformats.org/drawingml/2006/main" prst="rect">
            <a:avLst/>
          </a:prstGeom>
          <a:solidFill xmlns:a="http://schemas.openxmlformats.org/drawingml/2006/main">
            <a:srgbClr val="E84A5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49DF23-8D5A-4BDB-BB24-B54C1A39BC0A}"/>
              </a:ext>
            </a:extLst>
          </p:cNvPr>
          <p:cNvSpPr>
            <a:spLocks xmlns:a="http://schemas.openxmlformats.org/drawingml/2006/main" noGrp="1"/>
          </p:cNvSpPr>
          <p:nvPr/>
        </p:nvSpPr>
        <p:spPr>
          <a:xfrm xmlns:a="http://schemas.openxmlformats.org/drawingml/2006/main">
            <a:off x="762000" y="164782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Unemployment</a:t>
            </a:r>
          </a:p>
        </p:txBody>
      </p:sp>
      <p:sp>
        <p:nvSpPr>
          <p:cNvPr id="5" name="">
            <a:extLst xmlns:a="http://schemas.openxmlformats.org/drawingml/2006/main">
              <a:ext uri="{FF2B5EF4-FFF2-40B4-BE49-F238E27FC236}">
                <a16:creationId xmlns:a16="http://schemas.microsoft.com/office/drawing/2014/main" id="{63592B79-5CD8-42C7-BBFD-50F95A14B336}"/>
              </a:ext>
            </a:extLst>
          </p:cNvPr>
          <p:cNvSpPr>
            <a:spLocks xmlns:a="http://schemas.openxmlformats.org/drawingml/2006/main" noGrp="1"/>
          </p:cNvSpPr>
          <p:nvPr/>
        </p:nvSpPr>
        <p:spPr>
          <a:xfrm xmlns:a="http://schemas.openxmlformats.org/drawingml/2006/main">
            <a:off x="762000" y="204787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Eurostat · 60 months × 6 countries</a:t>
            </a:r>
          </a:p>
        </p:txBody>
      </p:sp>
      <p:sp>
        <p:nvSpPr>
          <p:cNvPr id="6" name="">
            <a:extLst xmlns:a="http://schemas.openxmlformats.org/drawingml/2006/main">
              <a:ext uri="{FF2B5EF4-FFF2-40B4-BE49-F238E27FC236}">
                <a16:creationId xmlns:a16="http://schemas.microsoft.com/office/drawing/2014/main" id="{6EAAC987-23C4-4966-AE53-098570AD27C2}"/>
              </a:ext>
            </a:extLst>
          </p:cNvPr>
          <p:cNvSpPr>
            <a:spLocks xmlns:a="http://schemas.openxmlformats.org/drawingml/2006/main" noGrp="1"/>
          </p:cNvSpPr>
          <p:nvPr/>
        </p:nvSpPr>
        <p:spPr>
          <a:xfrm xmlns:a="http://schemas.openxmlformats.org/drawingml/2006/main">
            <a:off x="8096250" y="20478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45-day estimated lag</a:t>
            </a:r>
          </a:p>
        </p:txBody>
      </p:sp>
      <p:sp>
        <p:nvSpPr>
          <p:cNvPr id="7" name="">
            <a:extLst xmlns:a="http://schemas.openxmlformats.org/drawingml/2006/main">
              <a:ext uri="{FF2B5EF4-FFF2-40B4-BE49-F238E27FC236}">
                <a16:creationId xmlns:a16="http://schemas.microsoft.com/office/drawing/2014/main" id="{18FA9F96-6733-4757-A915-6B98B6EB367A}"/>
              </a:ext>
            </a:extLst>
          </p:cNvPr>
          <p:cNvSpPr>
            <a:spLocks xmlns:a="http://schemas.openxmlformats.org/drawingml/2006/main" noGrp="1"/>
          </p:cNvSpPr>
          <p:nvPr/>
        </p:nvSpPr>
        <p:spPr>
          <a:xfrm xmlns:a="http://schemas.openxmlformats.org/drawingml/2006/main">
            <a:off x="762000" y="265747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Vacancy rate</a:t>
            </a:r>
          </a:p>
        </p:txBody>
      </p:sp>
      <p:sp>
        <p:nvSpPr>
          <p:cNvPr id="8" name="">
            <a:extLst xmlns:a="http://schemas.openxmlformats.org/drawingml/2006/main">
              <a:ext uri="{FF2B5EF4-FFF2-40B4-BE49-F238E27FC236}">
                <a16:creationId xmlns:a16="http://schemas.microsoft.com/office/drawing/2014/main" id="{58BFE33F-F9AC-496E-9FD1-97097FD926D8}"/>
              </a:ext>
            </a:extLst>
          </p:cNvPr>
          <p:cNvSpPr>
            <a:spLocks xmlns:a="http://schemas.openxmlformats.org/drawingml/2006/main" noGrp="1"/>
          </p:cNvSpPr>
          <p:nvPr/>
        </p:nvSpPr>
        <p:spPr>
          <a:xfrm xmlns:a="http://schemas.openxmlformats.org/drawingml/2006/main">
            <a:off x="762000" y="305752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Eurostat · 20 quarters × BG / PL / RO</a:t>
            </a:r>
          </a:p>
        </p:txBody>
      </p:sp>
      <p:sp>
        <p:nvSpPr>
          <p:cNvPr id="9" name="">
            <a:extLst xmlns:a="http://schemas.openxmlformats.org/drawingml/2006/main">
              <a:ext uri="{FF2B5EF4-FFF2-40B4-BE49-F238E27FC236}">
                <a16:creationId xmlns:a16="http://schemas.microsoft.com/office/drawing/2014/main" id="{185E7A3D-6036-4E9B-AD0B-0324EA1FA5FF}"/>
              </a:ext>
            </a:extLst>
          </p:cNvPr>
          <p:cNvSpPr>
            <a:spLocks xmlns:a="http://schemas.openxmlformats.org/drawingml/2006/main" noGrp="1"/>
          </p:cNvSpPr>
          <p:nvPr/>
        </p:nvSpPr>
        <p:spPr>
          <a:xfrm xmlns:a="http://schemas.openxmlformats.org/drawingml/2006/main">
            <a:off x="8096250" y="305752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90-day estimated lag</a:t>
            </a:r>
          </a:p>
        </p:txBody>
      </p:sp>
      <p:sp>
        <p:nvSpPr>
          <p:cNvPr id="10" name="">
            <a:extLst xmlns:a="http://schemas.openxmlformats.org/drawingml/2006/main">
              <a:ext uri="{FF2B5EF4-FFF2-40B4-BE49-F238E27FC236}">
                <a16:creationId xmlns:a16="http://schemas.microsoft.com/office/drawing/2014/main" id="{665CAC11-6296-4A3E-A73D-394CCFC68FE0}"/>
              </a:ext>
            </a:extLst>
          </p:cNvPr>
          <p:cNvSpPr>
            <a:spLocks xmlns:a="http://schemas.openxmlformats.org/drawingml/2006/main" noGrp="1"/>
          </p:cNvSpPr>
          <p:nvPr/>
        </p:nvSpPr>
        <p:spPr>
          <a:xfrm xmlns:a="http://schemas.openxmlformats.org/drawingml/2006/main">
            <a:off x="762000" y="366712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Consumer-price inflation</a:t>
            </a:r>
          </a:p>
        </p:txBody>
      </p:sp>
      <p:sp>
        <p:nvSpPr>
          <p:cNvPr id="11" name="">
            <a:extLst xmlns:a="http://schemas.openxmlformats.org/drawingml/2006/main">
              <a:ext uri="{FF2B5EF4-FFF2-40B4-BE49-F238E27FC236}">
                <a16:creationId xmlns:a16="http://schemas.microsoft.com/office/drawing/2014/main" id="{7F039B6C-22B9-46B1-9F21-1336EBCB17D7}"/>
              </a:ext>
            </a:extLst>
          </p:cNvPr>
          <p:cNvSpPr>
            <a:spLocks xmlns:a="http://schemas.openxmlformats.org/drawingml/2006/main" noGrp="1"/>
          </p:cNvSpPr>
          <p:nvPr/>
        </p:nvSpPr>
        <p:spPr>
          <a:xfrm xmlns:a="http://schemas.openxmlformats.org/drawingml/2006/main">
            <a:off x="762000" y="406717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World Bank · 5 years × 6 countries</a:t>
            </a:r>
          </a:p>
        </p:txBody>
      </p:sp>
      <p:sp>
        <p:nvSpPr>
          <p:cNvPr id="12" name="">
            <a:extLst xmlns:a="http://schemas.openxmlformats.org/drawingml/2006/main">
              <a:ext uri="{FF2B5EF4-FFF2-40B4-BE49-F238E27FC236}">
                <a16:creationId xmlns:a16="http://schemas.microsoft.com/office/drawing/2014/main" id="{35C8677A-6212-469B-8915-8B1250B974EC}"/>
              </a:ext>
            </a:extLst>
          </p:cNvPr>
          <p:cNvSpPr>
            <a:spLocks xmlns:a="http://schemas.openxmlformats.org/drawingml/2006/main" noGrp="1"/>
          </p:cNvSpPr>
          <p:nvPr/>
        </p:nvSpPr>
        <p:spPr>
          <a:xfrm xmlns:a="http://schemas.openxmlformats.org/drawingml/2006/main">
            <a:off x="8096250" y="40671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120-day estimated lag</a:t>
            </a:r>
          </a:p>
        </p:txBody>
      </p:sp>
      <p:sp>
        <p:nvSpPr>
          <p:cNvPr id="13" name="">
            <a:extLst xmlns:a="http://schemas.openxmlformats.org/drawingml/2006/main">
              <a:ext uri="{FF2B5EF4-FFF2-40B4-BE49-F238E27FC236}">
                <a16:creationId xmlns:a16="http://schemas.microsoft.com/office/drawing/2014/main" id="{FA107987-6134-4974-8AA0-AE033B259A7D}"/>
              </a:ext>
            </a:extLst>
          </p:cNvPr>
          <p:cNvSpPr>
            <a:spLocks xmlns:a="http://schemas.openxmlformats.org/drawingml/2006/main" noGrp="1"/>
          </p:cNvSpPr>
          <p:nvPr/>
        </p:nvSpPr>
        <p:spPr>
          <a:xfrm xmlns:a="http://schemas.openxmlformats.org/drawingml/2006/main">
            <a:off x="762000" y="4810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43B53"/>
                </a:solidFill>
                <a:latin typeface="Helvetica Neue"/>
                <a:ea typeface="Helvetica Neue"/>
                <a:cs typeface="Helvetica Neue"/>
              </a:defRPr>
            </a:pPr>
            <a:r>
              <a:rPr sz="2025" b="1">
                <a:solidFill>
                  <a:srgbClr val="243B53"/>
                </a:solidFill>
                <a:latin typeface="Helvetica Neue"/>
                <a:ea typeface="Helvetica Neue"/>
                <a:cs typeface="Helvetica Neue"/>
              </a:rPr>
              <a:t>450 original observations · frequencies remain explicit</a:t>
            </a:r>
          </a:p>
        </p:txBody>
      </p:sp>
      <p:sp>
        <p:nvSpPr>
          <p:cNvPr id="14" name="">
            <a:extLst xmlns:a="http://schemas.openxmlformats.org/drawingml/2006/main">
              <a:ext uri="{FF2B5EF4-FFF2-40B4-BE49-F238E27FC236}">
                <a16:creationId xmlns:a16="http://schemas.microsoft.com/office/drawing/2014/main" id="{E67CFA3B-B474-4F76-9A82-48D14661EE3E}"/>
              </a:ext>
            </a:extLst>
          </p:cNvPr>
          <p:cNvSpPr>
            <a:spLocks xmlns:a="http://schemas.openxmlformats.org/drawingml/2006/main" noGrp="1"/>
          </p:cNvSpPr>
          <p:nvPr/>
        </p:nvSpPr>
        <p:spPr>
          <a:xfrm xmlns:a="http://schemas.openxmlformats.org/drawingml/2006/main">
            <a:off x="762000" y="53435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Validated refreshes replace each source atomically; failures keep the usable snapshot.</a:t>
            </a:r>
          </a:p>
          <a:p xmlns:a="http://schemas.openxmlformats.org/drawingml/2006/main">
            <a:pPr>
              <a:defRPr sz="1575" b="0">
                <a:solidFill>
                  <a:srgbClr val="243B53"/>
                </a:solidFill>
                <a:latin typeface="Helvetica Neue"/>
                <a:ea typeface="Helvetica Neue"/>
                <a:cs typeface="Helvetica Neue"/>
              </a:defRPr>
            </a:pPr>
            <a:r>
              <a:rPr sz="1575" b="0">
                <a:solidFill>
                  <a:srgbClr val="243B53"/>
                </a:solidFill>
                <a:latin typeface="Helvetica Neue"/>
                <a:ea typeface="Helvetica Neue"/>
                <a:cs typeface="Helvetica Neue"/>
              </a:rPr>
              <a:t>Tests cover metric boundaries, quality, source failures and dashboard interactions.</a:t>
            </a:r>
          </a:p>
        </p:txBody>
      </p:sp>
      <p:sp>
        <p:nvSpPr>
          <p:cNvPr id="15" name="">
            <a:extLst xmlns:a="http://schemas.openxmlformats.org/drawingml/2006/main">
              <a:ext uri="{FF2B5EF4-FFF2-40B4-BE49-F238E27FC236}">
                <a16:creationId xmlns:a16="http://schemas.microsoft.com/office/drawing/2014/main" id="{779675FD-5AD9-4B2E-84A8-A01F9AE2C4EE}"/>
              </a:ext>
            </a:extLst>
          </p:cNvPr>
          <p:cNvSpPr>
            <a:spLocks xmlns:a="http://schemas.openxmlformats.org/drawingml/2006/main" noGrp="1"/>
          </p:cNvSpPr>
          <p:nvPr/>
        </p:nvSpPr>
        <p:spPr>
          <a:xfrm xmlns:a="http://schemas.openxmlformats.org/drawingml/2006/main">
            <a:off x="762000" y="61912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Snapshot: 2026-09-25. Revised snapshots do not reconstruct historical data vintages.</a:t>
            </a:r>
          </a:p>
        </p:txBody>
      </p:sp>
    </p:spTree>
    <p:extLst>
      <p:ext uri="{BB962C8B-B14F-4D97-AF65-F5344CB8AC3E}">
        <p14:creationId xmlns:p14="http://schemas.microsoft.com/office/powerpoint/2010/main" val="242738958"/>
      </p:ext>
    </p:extLst>
  </p:cSld>
</p:sld>
</file>

<file path=ppt/slides/slide5.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AA005F-F377-4BC7-A7A0-477A0BBC1476}"/>
              </a:ext>
            </a:extLst>
          </p:cNvPr>
          <p:cNvSpPr>
            <a:spLocks xmlns:a="http://schemas.openxmlformats.org/drawingml/2006/main" noGrp="1"/>
          </p:cNvSpPr>
          <p:nvPr/>
        </p:nvSpPr>
        <p:spPr>
          <a:xfrm xmlns:a="http://schemas.openxmlformats.org/drawingml/2006/main">
            <a:off x="704850" y="49530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3B53"/>
                </a:solidFill>
                <a:latin typeface="Helvetica Neue"/>
                <a:ea typeface="Helvetica Neue"/>
                <a:cs typeface="Helvetica Neue"/>
              </a:defRPr>
            </a:pPr>
            <a:r>
              <a:rPr sz="2550" b="1">
                <a:solidFill>
                  <a:srgbClr val="243B53"/>
                </a:solidFill>
                <a:latin typeface="Helvetica Neue"/>
                <a:ea typeface="Helvetica Neue"/>
                <a:cs typeface="Helvetica Neue"/>
              </a:rPr>
              <a:t>Senior retention misses the aggregate target</a:t>
            </a:r>
          </a:p>
        </p:txBody>
      </p:sp>
      <p:sp>
        <p:nvSpPr>
          <p:cNvPr id="2" name="">
            <a:extLst xmlns:a="http://schemas.openxmlformats.org/drawingml/2006/main">
              <a:ext uri="{FF2B5EF4-FFF2-40B4-BE49-F238E27FC236}">
                <a16:creationId xmlns:a16="http://schemas.microsoft.com/office/drawing/2014/main" id="{ABDD66C2-B36E-4D56-9923-7DAA904B1C0B}"/>
              </a:ext>
            </a:extLst>
          </p:cNvPr>
          <p:cNvSpPr>
            <a:spLocks xmlns:a="http://schemas.openxmlformats.org/drawingml/2006/main" noGrp="1"/>
          </p:cNvSpPr>
          <p:nvPr/>
        </p:nvSpPr>
        <p:spPr>
          <a:xfrm xmlns:a="http://schemas.openxmlformats.org/drawingml/2006/main">
            <a:off x="10953750" y="5524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AEE8D7B7-AC5F-48E8-8537-F13C44B21492}"/>
              </a:ext>
            </a:extLst>
          </p:cNvPr>
          <p:cNvSpPr>
            <a:spLocks xmlns:a="http://schemas.openxmlformats.org/drawingml/2006/main" noGrp="1"/>
          </p:cNvSpPr>
          <p:nvPr/>
        </p:nvSpPr>
        <p:spPr>
          <a:xfrm xmlns:a="http://schemas.openxmlformats.org/drawingml/2006/main">
            <a:off x="704850" y="1152525"/>
            <a:ext cx="781050" cy="57150"/>
          </a:xfrm>
          <a:prstGeom xmlns:a="http://schemas.openxmlformats.org/drawingml/2006/main" prst="rect">
            <a:avLst/>
          </a:prstGeom>
          <a:solidFill xmlns:a="http://schemas.openxmlformats.org/drawingml/2006/main">
            <a:srgbClr val="E84A5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44C3D5-5E44-455F-AB09-B5B2BC5CDDF2}"/>
              </a:ext>
            </a:extLst>
          </p:cNvPr>
          <p:cNvSpPr>
            <a:spLocks xmlns:a="http://schemas.openxmlformats.org/drawingml/2006/main" noGrp="1"/>
          </p:cNvSpPr>
          <p:nvPr/>
        </p:nvSpPr>
        <p:spPr>
          <a:xfrm xmlns:a="http://schemas.openxmlformats.org/drawingml/2006/main">
            <a:off x="762000" y="15049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7D98"/>
                </a:solidFill>
                <a:latin typeface="Helvetica Neue"/>
                <a:ea typeface="Helvetica Neue"/>
                <a:cs typeface="Helvetica Neue"/>
              </a:defRPr>
            </a:pPr>
            <a:r>
              <a:rPr sz="1725" b="0">
                <a:solidFill>
                  <a:srgbClr val="627D98"/>
                </a:solidFill>
                <a:latin typeface="Helvetica Neue"/>
                <a:ea typeface="Helvetica Neue"/>
                <a:cs typeface="Helvetica Neue"/>
              </a:rPr>
              <a:t>Mature senior cohorts · target ≥ 90%</a:t>
            </a:r>
          </a:p>
        </p:txBody>
      </p:sp>
      <p:graphicFrame>
        <p:nvGraphicFramePr>
          <p:cNvPr id="15" name="Chart"/>
          <p:cNvGraphicFramePr/>
          <p:nvPr/>
        </p:nvGraphicFramePr>
        <p:xfrm>
          <a:off xmlns:a="http://schemas.openxmlformats.org/drawingml/2006/main" x="647700" y="1952625"/>
          <a:ext xmlns:a="http://schemas.openxmlformats.org/drawingml/2006/main" cx="6477000" cy="3429000"/>
        </p:xfrm>
        <a:graphic xmlns:a="http://schemas.openxmlformats.org/drawingml/2006/main">
          <a:graphicData uri="http://schemas.openxmlformats.org/drawingml/2006/chart">
            <c:chart xmlns:r="http://schemas.openxmlformats.org/officeDocument/2006/relationships" xmlns:c="http://schemas.openxmlformats.org/drawingml/2006/chart" r:id="R42acf2daa8704ff6"/>
          </a:graphicData>
        </a:graphic>
      </p:graphicFrame>
      <p:sp>
        <p:nvSpPr>
          <p:cNvPr id="6" name="">
            <a:extLst xmlns:a="http://schemas.openxmlformats.org/drawingml/2006/main">
              <a:ext uri="{FF2B5EF4-FFF2-40B4-BE49-F238E27FC236}">
                <a16:creationId xmlns:a16="http://schemas.microsoft.com/office/drawing/2014/main" id="{D120CD5B-34D1-40C3-B55F-C4F5CDC73FDC}"/>
              </a:ext>
            </a:extLst>
          </p:cNvPr>
          <p:cNvSpPr>
            <a:spLocks xmlns:a="http://schemas.openxmlformats.org/drawingml/2006/main" noGrp="1"/>
          </p:cNvSpPr>
          <p:nvPr/>
        </p:nvSpPr>
        <p:spPr>
          <a:xfrm xmlns:a="http://schemas.openxmlformats.org/drawingml/2006/main">
            <a:off x="7524750" y="2028825"/>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43B53"/>
                </a:solidFill>
                <a:latin typeface="Helvetica Neue"/>
                <a:ea typeface="Helvetica Neue"/>
                <a:cs typeface="Helvetica Neue"/>
              </a:defRPr>
            </a:pPr>
            <a:r>
              <a:rPr sz="3000" b="1">
                <a:solidFill>
                  <a:srgbClr val="243B53"/>
                </a:solidFill>
                <a:latin typeface="Helvetica Neue"/>
                <a:ea typeface="Helvetica Neue"/>
                <a:cs typeface="Helvetica Neue"/>
              </a:rPr>
              <a:t>78.7%–83.3%</a:t>
            </a:r>
          </a:p>
        </p:txBody>
      </p:sp>
      <p:sp>
        <p:nvSpPr>
          <p:cNvPr id="7" name="">
            <a:extLst xmlns:a="http://schemas.openxmlformats.org/drawingml/2006/main">
              <a:ext uri="{FF2B5EF4-FFF2-40B4-BE49-F238E27FC236}">
                <a16:creationId xmlns:a16="http://schemas.microsoft.com/office/drawing/2014/main" id="{857B2EE8-737B-43EE-A97F-0F3D4D375245}"/>
              </a:ext>
            </a:extLst>
          </p:cNvPr>
          <p:cNvSpPr>
            <a:spLocks xmlns:a="http://schemas.openxmlformats.org/drawingml/2006/main" noGrp="1"/>
          </p:cNvSpPr>
          <p:nvPr/>
        </p:nvSpPr>
        <p:spPr>
          <a:xfrm xmlns:a="http://schemas.openxmlformats.org/drawingml/2006/main">
            <a:off x="7524750" y="2686050"/>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All six markets fall below the senior retention target.</a:t>
            </a:r>
          </a:p>
        </p:txBody>
      </p:sp>
      <p:sp>
        <p:nvSpPr>
          <p:cNvPr id="8" name="">
            <a:extLst xmlns:a="http://schemas.openxmlformats.org/drawingml/2006/main">
              <a:ext uri="{FF2B5EF4-FFF2-40B4-BE49-F238E27FC236}">
                <a16:creationId xmlns:a16="http://schemas.microsoft.com/office/drawing/2014/main" id="{2E9EBC67-2962-46C9-B6A8-3496109B0238}"/>
              </a:ext>
            </a:extLst>
          </p:cNvPr>
          <p:cNvSpPr>
            <a:spLocks xmlns:a="http://schemas.openxmlformats.org/drawingml/2006/main" noGrp="1"/>
          </p:cNvSpPr>
          <p:nvPr/>
        </p:nvSpPr>
        <p:spPr>
          <a:xfrm xmlns:a="http://schemas.openxmlformats.org/drawingml/2006/main">
            <a:off x="7524750" y="3743325"/>
            <a:ext cx="4000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Romania new hires: 85.1%</a:t>
            </a:r>
          </a:p>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257 / 302, below the 86% target.</a:t>
            </a:r>
          </a:p>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Other markets: 86.5%–88.8%.</a:t>
            </a:r>
          </a:p>
        </p:txBody>
      </p:sp>
      <p:sp>
        <p:nvSpPr>
          <p:cNvPr id="9" name="">
            <a:extLst xmlns:a="http://schemas.openxmlformats.org/drawingml/2006/main">
              <a:ext uri="{FF2B5EF4-FFF2-40B4-BE49-F238E27FC236}">
                <a16:creationId xmlns:a16="http://schemas.microsoft.com/office/drawing/2014/main" id="{0C0BFF9D-0F06-47D7-A996-0F6D4BAC4151}"/>
              </a:ext>
            </a:extLst>
          </p:cNvPr>
          <p:cNvSpPr>
            <a:spLocks xmlns:a="http://schemas.openxmlformats.org/drawingml/2006/main" noGrp="1"/>
          </p:cNvSpPr>
          <p:nvPr/>
        </p:nvSpPr>
        <p:spPr>
          <a:xfrm xmlns:a="http://schemas.openxmlformats.org/drawingml/2006/main">
            <a:off x="762000" y="57150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New-hire segments: Managers 90.3% · Individual Contributors 85.4% · Senior Leaders 85.6%</a:t>
            </a:r>
          </a:p>
        </p:txBody>
      </p:sp>
      <p:sp>
        <p:nvSpPr>
          <p:cNvPr id="10" name="">
            <a:extLst xmlns:a="http://schemas.openxmlformats.org/drawingml/2006/main">
              <a:ext uri="{FF2B5EF4-FFF2-40B4-BE49-F238E27FC236}">
                <a16:creationId xmlns:a16="http://schemas.microsoft.com/office/drawing/2014/main" id="{CA81C66A-286E-428E-ACE5-481B4E15978A}"/>
              </a:ext>
            </a:extLst>
          </p:cNvPr>
          <p:cNvSpPr>
            <a:spLocks xmlns:a="http://schemas.openxmlformats.org/drawingml/2006/main" noGrp="1"/>
          </p:cNvSpPr>
          <p:nvPr/>
        </p:nvSpPr>
        <p:spPr>
          <a:xfrm xmlns:a="http://schemas.openxmlformats.org/drawingml/2006/main">
            <a:off x="762000" y="63341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7D98"/>
                </a:solidFill>
                <a:latin typeface="Helvetica Neue"/>
                <a:ea typeface="Helvetica Neue"/>
                <a:cs typeface="Helvetica Neue"/>
              </a:defRPr>
            </a:pPr>
            <a:r>
              <a:rPr sz="1275" b="0">
                <a:solidFill>
                  <a:srgbClr val="627D98"/>
                </a:solidFill>
                <a:latin typeface="Helvetica Neue"/>
                <a:ea typeface="Helvetica Neue"/>
                <a:cs typeface="Helvetica Neue"/>
              </a:rPr>
              <a:t>Pool retained / eligible counts, not monthly percentages. Source: retention_metrics.csv</a:t>
            </a:r>
          </a:p>
        </p:txBody>
      </p:sp>
    </p:spTree>
    <p:extLst>
      <p:ext uri="{BB962C8B-B14F-4D97-AF65-F5344CB8AC3E}">
        <p14:creationId xmlns:p14="http://schemas.microsoft.com/office/powerpoint/2010/main" val="1997096501"/>
      </p:ext>
    </p:extLst>
  </p:cSld>
</p:sld>
</file>

<file path=ppt/slides/slide6.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91C928-0FFF-4951-9123-9CB086F12CCF}"/>
              </a:ext>
            </a:extLst>
          </p:cNvPr>
          <p:cNvSpPr>
            <a:spLocks xmlns:a="http://schemas.openxmlformats.org/drawingml/2006/main" noGrp="1"/>
          </p:cNvSpPr>
          <p:nvPr/>
        </p:nvSpPr>
        <p:spPr>
          <a:xfrm xmlns:a="http://schemas.openxmlformats.org/drawingml/2006/main">
            <a:off x="704850" y="49530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3B53"/>
                </a:solidFill>
                <a:latin typeface="Helvetica Neue"/>
                <a:ea typeface="Helvetica Neue"/>
                <a:cs typeface="Helvetica Neue"/>
              </a:defRPr>
            </a:pPr>
            <a:r>
              <a:rPr sz="2550" b="1">
                <a:solidFill>
                  <a:srgbClr val="243B53"/>
                </a:solidFill>
                <a:latin typeface="Helvetica Neue"/>
                <a:ea typeface="Helvetica Neue"/>
                <a:cs typeface="Helvetica Neue"/>
              </a:rPr>
              <a:t>Latest regretted turnover meets the target</a:t>
            </a:r>
          </a:p>
        </p:txBody>
      </p:sp>
      <p:sp>
        <p:nvSpPr>
          <p:cNvPr id="2" name="">
            <a:extLst xmlns:a="http://schemas.openxmlformats.org/drawingml/2006/main">
              <a:ext uri="{FF2B5EF4-FFF2-40B4-BE49-F238E27FC236}">
                <a16:creationId xmlns:a16="http://schemas.microsoft.com/office/drawing/2014/main" id="{B8C9B870-9EB3-4CD0-A87F-28645686E863}"/>
              </a:ext>
            </a:extLst>
          </p:cNvPr>
          <p:cNvSpPr>
            <a:spLocks xmlns:a="http://schemas.openxmlformats.org/drawingml/2006/main" noGrp="1"/>
          </p:cNvSpPr>
          <p:nvPr/>
        </p:nvSpPr>
        <p:spPr>
          <a:xfrm xmlns:a="http://schemas.openxmlformats.org/drawingml/2006/main">
            <a:off x="10953750" y="5524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21C53E24-F731-42C1-947C-94BC7B577D89}"/>
              </a:ext>
            </a:extLst>
          </p:cNvPr>
          <p:cNvSpPr>
            <a:spLocks xmlns:a="http://schemas.openxmlformats.org/drawingml/2006/main" noGrp="1"/>
          </p:cNvSpPr>
          <p:nvPr/>
        </p:nvSpPr>
        <p:spPr>
          <a:xfrm xmlns:a="http://schemas.openxmlformats.org/drawingml/2006/main">
            <a:off x="704850" y="1152525"/>
            <a:ext cx="781050" cy="57150"/>
          </a:xfrm>
          <a:prstGeom xmlns:a="http://schemas.openxmlformats.org/drawingml/2006/main" prst="rect">
            <a:avLst/>
          </a:prstGeom>
          <a:solidFill xmlns:a="http://schemas.openxmlformats.org/drawingml/2006/main">
            <a:srgbClr val="E84A5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D24D00-D24E-4503-943F-2F16BCDA434B}"/>
              </a:ext>
            </a:extLst>
          </p:cNvPr>
          <p:cNvSpPr>
            <a:spLocks xmlns:a="http://schemas.openxmlformats.org/drawingml/2006/main" noGrp="1"/>
          </p:cNvSpPr>
          <p:nvPr/>
        </p:nvSpPr>
        <p:spPr>
          <a:xfrm xmlns:a="http://schemas.openxmlformats.org/drawingml/2006/main">
            <a:off x="762000" y="15049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27D98"/>
                </a:solidFill>
                <a:latin typeface="Helvetica Neue"/>
                <a:ea typeface="Helvetica Neue"/>
                <a:cs typeface="Helvetica Neue"/>
              </a:defRPr>
            </a:pPr>
            <a:r>
              <a:rPr sz="1725" b="0">
                <a:solidFill>
                  <a:srgbClr val="627D98"/>
                </a:solidFill>
                <a:latin typeface="Helvetica Neue"/>
                <a:ea typeface="Helvetica Neue"/>
                <a:cs typeface="Helvetica Neue"/>
              </a:rPr>
              <a:t>Trailing 365 days at 2025-12-31 · ceiling ≤ 7.5%</a:t>
            </a:r>
          </a:p>
        </p:txBody>
      </p:sp>
      <p:graphicFrame>
        <p:nvGraphicFramePr>
          <p:cNvPr id="15" name="Chart"/>
          <p:cNvGraphicFramePr/>
          <p:nvPr/>
        </p:nvGraphicFramePr>
        <p:xfrm>
          <a:off xmlns:a="http://schemas.openxmlformats.org/drawingml/2006/main" x="647700" y="1952625"/>
          <a:ext xmlns:a="http://schemas.openxmlformats.org/drawingml/2006/main" cx="6477000" cy="3429000"/>
        </p:xfrm>
        <a:graphic xmlns:a="http://schemas.openxmlformats.org/drawingml/2006/main">
          <a:graphicData uri="http://schemas.openxmlformats.org/drawingml/2006/chart">
            <c:chart xmlns:r="http://schemas.openxmlformats.org/officeDocument/2006/relationships" xmlns:c="http://schemas.openxmlformats.org/drawingml/2006/chart" r:id="Rddebb9d179e04844"/>
          </a:graphicData>
        </a:graphic>
      </p:graphicFrame>
      <p:sp>
        <p:nvSpPr>
          <p:cNvPr id="6" name="">
            <a:extLst xmlns:a="http://schemas.openxmlformats.org/drawingml/2006/main">
              <a:ext uri="{FF2B5EF4-FFF2-40B4-BE49-F238E27FC236}">
                <a16:creationId xmlns:a16="http://schemas.microsoft.com/office/drawing/2014/main" id="{B33BE454-ABA6-41A6-9095-096BF55CD4D8}"/>
              </a:ext>
            </a:extLst>
          </p:cNvPr>
          <p:cNvSpPr>
            <a:spLocks xmlns:a="http://schemas.openxmlformats.org/drawingml/2006/main" noGrp="1"/>
          </p:cNvSpPr>
          <p:nvPr/>
        </p:nvSpPr>
        <p:spPr>
          <a:xfrm xmlns:a="http://schemas.openxmlformats.org/drawingml/2006/main">
            <a:off x="7524750" y="2028825"/>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3B53"/>
                </a:solidFill>
                <a:latin typeface="Helvetica Neue"/>
                <a:ea typeface="Helvetica Neue"/>
                <a:cs typeface="Helvetica Neue"/>
              </a:defRPr>
            </a:pPr>
            <a:r>
              <a:rPr sz="2250" b="1">
                <a:solidFill>
                  <a:srgbClr val="243B53"/>
                </a:solidFill>
                <a:latin typeface="Helvetica Neue"/>
                <a:ea typeface="Helvetica Neue"/>
                <a:cs typeface="Helvetica Neue"/>
              </a:rPr>
              <a:t>All six markets &lt; 7.5%</a:t>
            </a:r>
          </a:p>
        </p:txBody>
      </p:sp>
      <p:sp>
        <p:nvSpPr>
          <p:cNvPr id="7" name="">
            <a:extLst xmlns:a="http://schemas.openxmlformats.org/drawingml/2006/main">
              <a:ext uri="{FF2B5EF4-FFF2-40B4-BE49-F238E27FC236}">
                <a16:creationId xmlns:a16="http://schemas.microsoft.com/office/drawing/2014/main" id="{B625C927-F81E-4390-B9A7-C93FB1E83597}"/>
              </a:ext>
            </a:extLst>
          </p:cNvPr>
          <p:cNvSpPr>
            <a:spLocks xmlns:a="http://schemas.openxmlformats.org/drawingml/2006/main" noGrp="1"/>
          </p:cNvSpPr>
          <p:nvPr/>
        </p:nvSpPr>
        <p:spPr>
          <a:xfrm xmlns:a="http://schemas.openxmlformats.org/drawingml/2006/main">
            <a:off x="7524750" y="3009900"/>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Romania is closest: 6.9%</a:t>
            </a:r>
          </a:p>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17 exits / 245.5 average headcount.</a:t>
            </a:r>
          </a:p>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Greece is lowest: 2.8%.</a:t>
            </a:r>
          </a:p>
        </p:txBody>
      </p:sp>
      <p:sp>
        <p:nvSpPr>
          <p:cNvPr id="8" name="">
            <a:extLst xmlns:a="http://schemas.openxmlformats.org/drawingml/2006/main">
              <a:ext uri="{FF2B5EF4-FFF2-40B4-BE49-F238E27FC236}">
                <a16:creationId xmlns:a16="http://schemas.microsoft.com/office/drawing/2014/main" id="{33F2B4F0-6ABC-4648-B27D-53AB77EDA03A}"/>
              </a:ext>
            </a:extLst>
          </p:cNvPr>
          <p:cNvSpPr>
            <a:spLocks xmlns:a="http://schemas.openxmlformats.org/drawingml/2006/main" noGrp="1"/>
          </p:cNvSpPr>
          <p:nvPr/>
        </p:nvSpPr>
        <p:spPr>
          <a:xfrm xmlns:a="http://schemas.openxmlformats.org/drawingml/2006/main">
            <a:off x="7524750" y="4371975"/>
            <a:ext cx="4000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84A5F"/>
                </a:solidFill>
                <a:latin typeface="Helvetica Neue"/>
                <a:ea typeface="Helvetica Neue"/>
                <a:cs typeface="Helvetica Neue"/>
              </a:defRPr>
            </a:pPr>
            <a:r>
              <a:rPr sz="1650" b="1">
                <a:solidFill>
                  <a:srgbClr val="E84A5F"/>
                </a:solidFill>
                <a:latin typeface="Helvetica Neue"/>
                <a:ea typeface="Helvetica Neue"/>
                <a:cs typeface="Helvetica Neue"/>
              </a:rPr>
              <a:t>14 valid exits have unknown</a:t>
            </a:r>
          </a:p>
          <a:p xmlns:a="http://schemas.openxmlformats.org/drawingml/2006/main">
            <a:pPr>
              <a:defRPr sz="1650" b="1">
                <a:solidFill>
                  <a:srgbClr val="E84A5F"/>
                </a:solidFill>
                <a:latin typeface="Helvetica Neue"/>
                <a:ea typeface="Helvetica Neue"/>
                <a:cs typeface="Helvetica Neue"/>
              </a:defRPr>
            </a:pPr>
            <a:r>
              <a:rPr sz="1650" b="1">
                <a:solidFill>
                  <a:srgbClr val="E84A5F"/>
                </a:solidFill>
                <a:latin typeface="Helvetica Neue"/>
                <a:ea typeface="Helvetica Neue"/>
                <a:cs typeface="Helvetica Neue"/>
              </a:rPr>
              <a:t>regretted status; the numerator</a:t>
            </a:r>
          </a:p>
          <a:p xmlns:a="http://schemas.openxmlformats.org/drawingml/2006/main">
            <a:pPr>
              <a:defRPr sz="1650" b="1">
                <a:solidFill>
                  <a:srgbClr val="E84A5F"/>
                </a:solidFill>
                <a:latin typeface="Helvetica Neue"/>
                <a:ea typeface="Helvetica Neue"/>
                <a:cs typeface="Helvetica Neue"/>
              </a:defRPr>
            </a:pPr>
            <a:r>
              <a:rPr sz="1650" b="1">
                <a:solidFill>
                  <a:srgbClr val="E84A5F"/>
                </a:solidFill>
                <a:latin typeface="Helvetica Neue"/>
                <a:ea typeface="Helvetica Neue"/>
                <a:cs typeface="Helvetica Neue"/>
              </a:rPr>
              <a:t>may be understated.</a:t>
            </a:r>
          </a:p>
        </p:txBody>
      </p:sp>
      <p:sp>
        <p:nvSpPr>
          <p:cNvPr id="9" name="">
            <a:extLst xmlns:a="http://schemas.openxmlformats.org/drawingml/2006/main">
              <a:ext uri="{FF2B5EF4-FFF2-40B4-BE49-F238E27FC236}">
                <a16:creationId xmlns:a16="http://schemas.microsoft.com/office/drawing/2014/main" id="{E1880102-D198-4154-846C-BFE98E23A29C}"/>
              </a:ext>
            </a:extLst>
          </p:cNvPr>
          <p:cNvSpPr>
            <a:spLocks xmlns:a="http://schemas.openxmlformats.org/drawingml/2006/main" noGrp="1"/>
          </p:cNvSpPr>
          <p:nvPr/>
        </p:nvSpPr>
        <p:spPr>
          <a:xfrm xmlns:a="http://schemas.openxmlformats.org/drawingml/2006/main">
            <a:off x="762000" y="5810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43B53"/>
                </a:solidFill>
                <a:latin typeface="Helvetica Neue"/>
                <a:ea typeface="Helvetica Neue"/>
                <a:cs typeface="Helvetica Neue"/>
              </a:defRPr>
            </a:pPr>
            <a:r>
              <a:rPr sz="1725" b="1">
                <a:solidFill>
                  <a:srgbClr val="243B53"/>
                </a:solidFill>
                <a:latin typeface="Helvetica Neue"/>
                <a:ea typeface="Helvetica Neue"/>
                <a:cs typeface="Helvetica Neue"/>
              </a:rPr>
              <a:t>2,381 unique valid employees · 26 excluded rows, including 7 duplicates</a:t>
            </a:r>
          </a:p>
        </p:txBody>
      </p:sp>
      <p:sp>
        <p:nvSpPr>
          <p:cNvPr id="10" name="">
            <a:extLst xmlns:a="http://schemas.openxmlformats.org/drawingml/2006/main">
              <a:ext uri="{FF2B5EF4-FFF2-40B4-BE49-F238E27FC236}">
                <a16:creationId xmlns:a16="http://schemas.microsoft.com/office/drawing/2014/main" id="{6E279855-BD52-4439-B084-333DA437F81B}"/>
              </a:ext>
            </a:extLst>
          </p:cNvPr>
          <p:cNvSpPr>
            <a:spLocks xmlns:a="http://schemas.openxmlformats.org/drawingml/2006/main" noGrp="1"/>
          </p:cNvSpPr>
          <p:nvPr/>
        </p:nvSpPr>
        <p:spPr>
          <a:xfrm xmlns:a="http://schemas.openxmlformats.org/drawingml/2006/main">
            <a:off x="762000" y="63341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7D98"/>
                </a:solidFill>
                <a:latin typeface="Helvetica Neue"/>
                <a:ea typeface="Helvetica Neue"/>
                <a:cs typeface="Helvetica Neue"/>
              </a:defRPr>
            </a:pPr>
            <a:r>
              <a:rPr sz="1275" b="0">
                <a:solidFill>
                  <a:srgbClr val="627D98"/>
                </a:solidFill>
                <a:latin typeface="Helvetica Neue"/>
                <a:ea typeface="Helvetica Neue"/>
                <a:cs typeface="Helvetica Neue"/>
              </a:rPr>
              <a:t>Sources: objective_status.csv and quality_report.json. Different population from senior retention.</a:t>
            </a:r>
          </a:p>
        </p:txBody>
      </p:sp>
    </p:spTree>
    <p:extLst>
      <p:ext uri="{BB962C8B-B14F-4D97-AF65-F5344CB8AC3E}">
        <p14:creationId xmlns:p14="http://schemas.microsoft.com/office/powerpoint/2010/main" val="1109478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26BF539-4A1E-4180-A895-A1C9BA05BC83}"/>
              </a:ext>
            </a:extLst>
          </p:cNvPr>
          <p:cNvSpPr>
            <a:spLocks xmlns:a="http://schemas.openxmlformats.org/drawingml/2006/main" noGrp="1"/>
          </p:cNvSpPr>
          <p:nvPr/>
        </p:nvSpPr>
        <p:spPr>
          <a:xfrm xmlns:a="http://schemas.openxmlformats.org/drawingml/2006/main">
            <a:off x="704850" y="49530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3B53"/>
                </a:solidFill>
                <a:latin typeface="Helvetica Neue"/>
                <a:ea typeface="Helvetica Neue"/>
                <a:cs typeface="Helvetica Neue"/>
              </a:defRPr>
            </a:pPr>
            <a:r>
              <a:rPr sz="2550" b="1">
                <a:solidFill>
                  <a:srgbClr val="243B53"/>
                </a:solidFill>
                <a:latin typeface="Helvetica Neue"/>
                <a:ea typeface="Helvetica Neue"/>
                <a:cs typeface="Helvetica Neue"/>
              </a:rPr>
              <a:t>External relationships remain uncertain</a:t>
            </a:r>
          </a:p>
        </p:txBody>
      </p:sp>
      <p:sp>
        <p:nvSpPr>
          <p:cNvPr id="2" name="">
            <a:extLst xmlns:a="http://schemas.openxmlformats.org/drawingml/2006/main">
              <a:ext uri="{FF2B5EF4-FFF2-40B4-BE49-F238E27FC236}">
                <a16:creationId xmlns:a16="http://schemas.microsoft.com/office/drawing/2014/main" id="{3F03EA60-1EF8-4588-BCD4-AC24010A6850}"/>
              </a:ext>
            </a:extLst>
          </p:cNvPr>
          <p:cNvSpPr>
            <a:spLocks xmlns:a="http://schemas.openxmlformats.org/drawingml/2006/main" noGrp="1"/>
          </p:cNvSpPr>
          <p:nvPr/>
        </p:nvSpPr>
        <p:spPr>
          <a:xfrm xmlns:a="http://schemas.openxmlformats.org/drawingml/2006/main">
            <a:off x="10953750" y="5524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27D98"/>
                </a:solidFill>
                <a:latin typeface="Helvetica Neue"/>
                <a:ea typeface="Helvetica Neue"/>
                <a:cs typeface="Helvetica Neue"/>
              </a:defRPr>
            </a:pPr>
            <a:r>
              <a:rPr sz="1200" b="1">
                <a:solidFill>
                  <a:srgbClr val="627D98"/>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0BFE37EE-292D-44E8-A0A2-4B51DC14F994}"/>
              </a:ext>
            </a:extLst>
          </p:cNvPr>
          <p:cNvSpPr>
            <a:spLocks xmlns:a="http://schemas.openxmlformats.org/drawingml/2006/main" noGrp="1"/>
          </p:cNvSpPr>
          <p:nvPr/>
        </p:nvSpPr>
        <p:spPr>
          <a:xfrm xmlns:a="http://schemas.openxmlformats.org/drawingml/2006/main">
            <a:off x="704850" y="1152525"/>
            <a:ext cx="781050" cy="57150"/>
          </a:xfrm>
          <a:prstGeom xmlns:a="http://schemas.openxmlformats.org/drawingml/2006/main" prst="rect">
            <a:avLst/>
          </a:prstGeom>
          <a:solidFill xmlns:a="http://schemas.openxmlformats.org/drawingml/2006/main">
            <a:srgbClr val="E84A5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24A237-5808-4DF4-8768-70CD766A60ED}"/>
              </a:ext>
            </a:extLst>
          </p:cNvPr>
          <p:cNvSpPr>
            <a:spLocks xmlns:a="http://schemas.openxmlformats.org/drawingml/2006/main" noGrp="1"/>
          </p:cNvSpPr>
          <p:nvPr/>
        </p:nvSpPr>
        <p:spPr>
          <a:xfrm xmlns:a="http://schemas.openxmlformats.org/drawingml/2006/main">
            <a:off x="762000" y="1638300"/>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New-hire retention × inflation</a:t>
            </a:r>
          </a:p>
        </p:txBody>
      </p:sp>
      <p:sp>
        <p:nvSpPr>
          <p:cNvPr id="5" name="">
            <a:extLst xmlns:a="http://schemas.openxmlformats.org/drawingml/2006/main">
              <a:ext uri="{FF2B5EF4-FFF2-40B4-BE49-F238E27FC236}">
                <a16:creationId xmlns:a16="http://schemas.microsoft.com/office/drawing/2014/main" id="{2F0B8DBD-A9AE-4CE7-8BF2-FEBCA1DDBFC8}"/>
              </a:ext>
            </a:extLst>
          </p:cNvPr>
          <p:cNvSpPr>
            <a:spLocks xmlns:a="http://schemas.openxmlformats.org/drawingml/2006/main" noGrp="1"/>
          </p:cNvSpPr>
          <p:nvPr/>
        </p:nvSpPr>
        <p:spPr>
          <a:xfrm xmlns:a="http://schemas.openxmlformats.org/drawingml/2006/main">
            <a:off x="8905875" y="16383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F80ED"/>
                </a:solidFill>
                <a:latin typeface="Helvetica Neue"/>
                <a:ea typeface="Helvetica Neue"/>
                <a:cs typeface="Helvetica Neue"/>
              </a:defRPr>
            </a:pPr>
            <a:r>
              <a:rPr sz="2325" b="1">
                <a:solidFill>
                  <a:srgbClr val="2F80ED"/>
                </a:solidFill>
                <a:latin typeface="Helvetica Neue"/>
                <a:ea typeface="Helvetica Neue"/>
                <a:cs typeface="Helvetica Neue"/>
              </a:rPr>
              <a:t>r = −0.76</a:t>
            </a:r>
          </a:p>
        </p:txBody>
      </p:sp>
      <p:sp>
        <p:nvSpPr>
          <p:cNvPr id="6" name="">
            <a:extLst xmlns:a="http://schemas.openxmlformats.org/drawingml/2006/main">
              <a:ext uri="{FF2B5EF4-FFF2-40B4-BE49-F238E27FC236}">
                <a16:creationId xmlns:a16="http://schemas.microsoft.com/office/drawing/2014/main" id="{8E9F63D5-016A-4DC3-9116-077BF746D978}"/>
              </a:ext>
            </a:extLst>
          </p:cNvPr>
          <p:cNvSpPr>
            <a:spLocks xmlns:a="http://schemas.openxmlformats.org/drawingml/2006/main" noGrp="1"/>
          </p:cNvSpPr>
          <p:nvPr/>
        </p:nvSpPr>
        <p:spPr>
          <a:xfrm xmlns:a="http://schemas.openxmlformats.org/drawingml/2006/main">
            <a:off x="762000" y="20955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D98"/>
                </a:solidFill>
                <a:latin typeface="Helvetica Neue"/>
                <a:ea typeface="Helvetica Neue"/>
                <a:cs typeface="Helvetica Neue"/>
              </a:defRPr>
            </a:pPr>
            <a:r>
              <a:rPr sz="1650" b="0">
                <a:solidFill>
                  <a:srgbClr val="627D98"/>
                </a:solidFill>
                <a:latin typeface="Helvetica Neue"/>
                <a:ea typeface="Helvetica Neue"/>
                <a:cs typeface="Helvetica Neue"/>
              </a:rPr>
              <a:t>95% interval −0.97 to 0.13 · 6 countries</a:t>
            </a:r>
          </a:p>
        </p:txBody>
      </p:sp>
      <p:sp>
        <p:nvSpPr>
          <p:cNvPr id="7" name="">
            <a:extLst xmlns:a="http://schemas.openxmlformats.org/drawingml/2006/main">
              <a:ext uri="{FF2B5EF4-FFF2-40B4-BE49-F238E27FC236}">
                <a16:creationId xmlns:a16="http://schemas.microsoft.com/office/drawing/2014/main" id="{72B8703A-C4D9-4D18-8BDA-1C32557CF280}"/>
              </a:ext>
            </a:extLst>
          </p:cNvPr>
          <p:cNvSpPr>
            <a:spLocks xmlns:a="http://schemas.openxmlformats.org/drawingml/2006/main" noGrp="1"/>
          </p:cNvSpPr>
          <p:nvPr/>
        </p:nvSpPr>
        <p:spPr>
          <a:xfrm xmlns:a="http://schemas.openxmlformats.org/drawingml/2006/main">
            <a:off x="762000" y="2828925"/>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New-hire retention × unemployment</a:t>
            </a:r>
          </a:p>
        </p:txBody>
      </p:sp>
      <p:sp>
        <p:nvSpPr>
          <p:cNvPr id="8" name="">
            <a:extLst xmlns:a="http://schemas.openxmlformats.org/drawingml/2006/main">
              <a:ext uri="{FF2B5EF4-FFF2-40B4-BE49-F238E27FC236}">
                <a16:creationId xmlns:a16="http://schemas.microsoft.com/office/drawing/2014/main" id="{FF414EE5-E3B2-4D9A-BA97-FCD4BF745305}"/>
              </a:ext>
            </a:extLst>
          </p:cNvPr>
          <p:cNvSpPr>
            <a:spLocks xmlns:a="http://schemas.openxmlformats.org/drawingml/2006/main" noGrp="1"/>
          </p:cNvSpPr>
          <p:nvPr/>
        </p:nvSpPr>
        <p:spPr>
          <a:xfrm xmlns:a="http://schemas.openxmlformats.org/drawingml/2006/main">
            <a:off x="8905875" y="28289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F80ED"/>
                </a:solidFill>
                <a:latin typeface="Helvetica Neue"/>
                <a:ea typeface="Helvetica Neue"/>
                <a:cs typeface="Helvetica Neue"/>
              </a:defRPr>
            </a:pPr>
            <a:r>
              <a:rPr sz="2325" b="1">
                <a:solidFill>
                  <a:srgbClr val="2F80ED"/>
                </a:solidFill>
                <a:latin typeface="Helvetica Neue"/>
                <a:ea typeface="Helvetica Neue"/>
                <a:cs typeface="Helvetica Neue"/>
              </a:rPr>
              <a:t>r = 0.08</a:t>
            </a:r>
          </a:p>
        </p:txBody>
      </p:sp>
      <p:sp>
        <p:nvSpPr>
          <p:cNvPr id="9" name="">
            <a:extLst xmlns:a="http://schemas.openxmlformats.org/drawingml/2006/main">
              <a:ext uri="{FF2B5EF4-FFF2-40B4-BE49-F238E27FC236}">
                <a16:creationId xmlns:a16="http://schemas.microsoft.com/office/drawing/2014/main" id="{F79D5B88-87AA-4CB1-A693-DBC7FCB36933}"/>
              </a:ext>
            </a:extLst>
          </p:cNvPr>
          <p:cNvSpPr>
            <a:spLocks xmlns:a="http://schemas.openxmlformats.org/drawingml/2006/main" noGrp="1"/>
          </p:cNvSpPr>
          <p:nvPr/>
        </p:nvSpPr>
        <p:spPr>
          <a:xfrm xmlns:a="http://schemas.openxmlformats.org/drawingml/2006/main">
            <a:off x="762000" y="32861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D98"/>
                </a:solidFill>
                <a:latin typeface="Helvetica Neue"/>
                <a:ea typeface="Helvetica Neue"/>
                <a:cs typeface="Helvetica Neue"/>
              </a:defRPr>
            </a:pPr>
            <a:r>
              <a:rPr sz="1650" b="0">
                <a:solidFill>
                  <a:srgbClr val="627D98"/>
                </a:solidFill>
                <a:latin typeface="Helvetica Neue"/>
                <a:ea typeface="Helvetica Neue"/>
                <a:cs typeface="Helvetica Neue"/>
              </a:rPr>
              <a:t>95% interval −0.78 to 0.84 · 6 countries</a:t>
            </a:r>
          </a:p>
        </p:txBody>
      </p:sp>
      <p:sp>
        <p:nvSpPr>
          <p:cNvPr id="10" name="">
            <a:extLst xmlns:a="http://schemas.openxmlformats.org/drawingml/2006/main">
              <a:ext uri="{FF2B5EF4-FFF2-40B4-BE49-F238E27FC236}">
                <a16:creationId xmlns:a16="http://schemas.microsoft.com/office/drawing/2014/main" id="{3A871A62-19D5-4B4E-AE1F-A72CF1969611}"/>
              </a:ext>
            </a:extLst>
          </p:cNvPr>
          <p:cNvSpPr>
            <a:spLocks xmlns:a="http://schemas.openxmlformats.org/drawingml/2006/main" noGrp="1"/>
          </p:cNvSpPr>
          <p:nvPr/>
        </p:nvSpPr>
        <p:spPr>
          <a:xfrm xmlns:a="http://schemas.openxmlformats.org/drawingml/2006/main">
            <a:off x="762000" y="4019550"/>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3B53"/>
                </a:solidFill>
                <a:latin typeface="Helvetica Neue"/>
                <a:ea typeface="Helvetica Neue"/>
                <a:cs typeface="Helvetica Neue"/>
              </a:defRPr>
            </a:pPr>
            <a:r>
              <a:rPr sz="1875" b="1">
                <a:solidFill>
                  <a:srgbClr val="243B53"/>
                </a:solidFill>
                <a:latin typeface="Helvetica Neue"/>
                <a:ea typeface="Helvetica Neue"/>
                <a:cs typeface="Helvetica Neue"/>
              </a:rPr>
              <a:t>Senior retention × vacancies</a:t>
            </a:r>
          </a:p>
        </p:txBody>
      </p:sp>
      <p:sp>
        <p:nvSpPr>
          <p:cNvPr id="11" name="">
            <a:extLst xmlns:a="http://schemas.openxmlformats.org/drawingml/2006/main">
              <a:ext uri="{FF2B5EF4-FFF2-40B4-BE49-F238E27FC236}">
                <a16:creationId xmlns:a16="http://schemas.microsoft.com/office/drawing/2014/main" id="{CED315CA-F7EB-4BB7-A687-25095419CFD8}"/>
              </a:ext>
            </a:extLst>
          </p:cNvPr>
          <p:cNvSpPr>
            <a:spLocks xmlns:a="http://schemas.openxmlformats.org/drawingml/2006/main" noGrp="1"/>
          </p:cNvSpPr>
          <p:nvPr/>
        </p:nvSpPr>
        <p:spPr>
          <a:xfrm xmlns:a="http://schemas.openxmlformats.org/drawingml/2006/main">
            <a:off x="8905875" y="401955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E84A5F"/>
                </a:solidFill>
                <a:latin typeface="Helvetica Neue"/>
                <a:ea typeface="Helvetica Neue"/>
                <a:cs typeface="Helvetica Neue"/>
              </a:defRPr>
            </a:pPr>
            <a:r>
              <a:rPr sz="2325" b="1">
                <a:solidFill>
                  <a:srgbClr val="E84A5F"/>
                </a:solidFill>
                <a:latin typeface="Helvetica Neue"/>
                <a:ea typeface="Helvetica Neue"/>
                <a:cs typeface="Helvetica Neue"/>
              </a:rPr>
              <a:t>r = −0.97</a:t>
            </a:r>
          </a:p>
        </p:txBody>
      </p:sp>
      <p:sp>
        <p:nvSpPr>
          <p:cNvPr id="12" name="">
            <a:extLst xmlns:a="http://schemas.openxmlformats.org/drawingml/2006/main">
              <a:ext uri="{FF2B5EF4-FFF2-40B4-BE49-F238E27FC236}">
                <a16:creationId xmlns:a16="http://schemas.microsoft.com/office/drawing/2014/main" id="{9811EC1C-63EB-4107-8585-2F9F2DB955CC}"/>
              </a:ext>
            </a:extLst>
          </p:cNvPr>
          <p:cNvSpPr>
            <a:spLocks xmlns:a="http://schemas.openxmlformats.org/drawingml/2006/main" noGrp="1"/>
          </p:cNvSpPr>
          <p:nvPr/>
        </p:nvSpPr>
        <p:spPr>
          <a:xfrm xmlns:a="http://schemas.openxmlformats.org/drawingml/2006/main">
            <a:off x="762000" y="44767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7D98"/>
                </a:solidFill>
                <a:latin typeface="Helvetica Neue"/>
                <a:ea typeface="Helvetica Neue"/>
                <a:cs typeface="Helvetica Neue"/>
              </a:defRPr>
            </a:pPr>
            <a:r>
              <a:rPr sz="1650" b="0">
                <a:solidFill>
                  <a:srgbClr val="627D98"/>
                </a:solidFill>
                <a:latin typeface="Helvetica Neue"/>
                <a:ea typeface="Helvetica Neue"/>
                <a:cs typeface="Helvetica Neue"/>
              </a:rPr>
              <a:t>Only 3 countries · no Fisher interval</a:t>
            </a:r>
          </a:p>
        </p:txBody>
      </p:sp>
      <p:sp>
        <p:nvSpPr>
          <p:cNvPr id="13" name="">
            <a:extLst xmlns:a="http://schemas.openxmlformats.org/drawingml/2006/main">
              <a:ext uri="{FF2B5EF4-FFF2-40B4-BE49-F238E27FC236}">
                <a16:creationId xmlns:a16="http://schemas.microsoft.com/office/drawing/2014/main" id="{F1E6E8B2-382A-4DAD-94EA-5A2BCF13C176}"/>
              </a:ext>
            </a:extLst>
          </p:cNvPr>
          <p:cNvSpPr>
            <a:spLocks xmlns:a="http://schemas.openxmlformats.org/drawingml/2006/main" noGrp="1"/>
          </p:cNvSpPr>
          <p:nvPr/>
        </p:nvSpPr>
        <p:spPr>
          <a:xfrm xmlns:a="http://schemas.openxmlformats.org/drawingml/2006/main">
            <a:off x="762000" y="5391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43B53"/>
                </a:solidFill>
                <a:latin typeface="Helvetica Neue"/>
                <a:ea typeface="Helvetica Neue"/>
                <a:cs typeface="Helvetica Neue"/>
              </a:defRPr>
            </a:pPr>
            <a:r>
              <a:rPr sz="2100" b="1">
                <a:solidFill>
                  <a:srgbClr val="243B53"/>
                </a:solidFill>
                <a:latin typeface="Helvetica Neue"/>
                <a:ea typeface="Helvetica Neue"/>
                <a:cs typeface="Helvetica Neue"/>
              </a:rPr>
              <a:t>Exploratory associations, not causal evidence</a:t>
            </a:r>
          </a:p>
        </p:txBody>
      </p:sp>
      <p:sp>
        <p:nvSpPr>
          <p:cNvPr id="14" name="">
            <a:extLst xmlns:a="http://schemas.openxmlformats.org/drawingml/2006/main">
              <a:ext uri="{FF2B5EF4-FFF2-40B4-BE49-F238E27FC236}">
                <a16:creationId xmlns:a16="http://schemas.microsoft.com/office/drawing/2014/main" id="{947DF3DF-2541-4D39-9B58-FC13B9DE0988}"/>
              </a:ext>
            </a:extLst>
          </p:cNvPr>
          <p:cNvSpPr>
            <a:spLocks xmlns:a="http://schemas.openxmlformats.org/drawingml/2006/main" noGrp="1"/>
          </p:cNvSpPr>
          <p:nvPr/>
        </p:nvSpPr>
        <p:spPr>
          <a:xfrm xmlns:a="http://schemas.openxmlformats.org/drawingml/2006/main">
            <a:off x="762000" y="58674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Repeated source periods collapse before country averaging. No adjustment for</a:t>
            </a:r>
          </a:p>
          <a:p xmlns:a="http://schemas.openxmlformats.org/drawingml/2006/main">
            <a:pPr>
              <a:defRPr sz="1575" b="0">
                <a:solidFill>
                  <a:srgbClr val="627D98"/>
                </a:solidFill>
                <a:latin typeface="Helvetica Neue"/>
                <a:ea typeface="Helvetica Neue"/>
                <a:cs typeface="Helvetica Neue"/>
              </a:defRPr>
            </a:pPr>
            <a:r>
              <a:rPr sz="1575" b="0">
                <a:solidFill>
                  <a:srgbClr val="627D98"/>
                </a:solidFill>
                <a:latin typeface="Helvetica Neue"/>
                <a:ea typeface="Helvetica Neue"/>
                <a:cs typeface="Helvetica Neue"/>
              </a:rPr>
              <a:t>workforce composition or multiple comparisons; small samples limit inference.</a:t>
            </a:r>
          </a:p>
        </p:txBody>
      </p:sp>
    </p:spTree>
    <p:extLst>
      <p:ext uri="{BB962C8B-B14F-4D97-AF65-F5344CB8AC3E}">
        <p14:creationId xmlns:p14="http://schemas.microsoft.com/office/powerpoint/2010/main" val="1290376058"/>
      </p:ext>
    </p:extLst>
  </p:cSld>
</p:sld>
</file>

<file path=ppt/slides/slide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45DB92-1FB4-45D8-AB0B-064C4EA9CD71}"/>
              </a:ext>
            </a:extLst>
          </p:cNvPr>
          <p:cNvSpPr>
            <a:spLocks xmlns:a="http://schemas.openxmlformats.org/drawingml/2006/main" noGrp="1"/>
          </p:cNvSpPr>
          <p:nvPr/>
        </p:nvSpPr>
        <p:spPr>
          <a:xfrm xmlns:a="http://schemas.openxmlformats.org/drawingml/2006/main">
            <a:off x="742950" y="6191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Tradeoffs, AI use and next steps</a:t>
            </a:r>
          </a:p>
        </p:txBody>
      </p:sp>
      <p:sp>
        <p:nvSpPr>
          <p:cNvPr id="2" name="">
            <a:extLst xmlns:a="http://schemas.openxmlformats.org/drawingml/2006/main">
              <a:ext uri="{FF2B5EF4-FFF2-40B4-BE49-F238E27FC236}">
                <a16:creationId xmlns:a16="http://schemas.microsoft.com/office/drawing/2014/main" id="{26CCA7E6-D47F-4F0F-8E0D-217A06CB7CE8}"/>
              </a:ext>
            </a:extLst>
          </p:cNvPr>
          <p:cNvSpPr>
            <a:spLocks xmlns:a="http://schemas.openxmlformats.org/drawingml/2006/main" noGrp="1"/>
          </p:cNvSpPr>
          <p:nvPr/>
        </p:nvSpPr>
        <p:spPr>
          <a:xfrm xmlns:a="http://schemas.openxmlformats.org/drawingml/2006/main">
            <a:off x="742950" y="1276350"/>
            <a:ext cx="838200" cy="57150"/>
          </a:xfrm>
          <a:prstGeom xmlns:a="http://schemas.openxmlformats.org/drawingml/2006/main" prst="rect">
            <a:avLst/>
          </a:prstGeom>
          <a:solidFill xmlns:a="http://schemas.openxmlformats.org/drawingml/2006/main">
            <a:srgbClr val="F6B7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D35C5E-CC63-4FD7-BF55-2949F92D8AC3}"/>
              </a:ext>
            </a:extLst>
          </p:cNvPr>
          <p:cNvSpPr>
            <a:spLocks xmlns:a="http://schemas.openxmlformats.org/drawingml/2006/main" noGrp="1"/>
          </p:cNvSpPr>
          <p:nvPr/>
        </p:nvSpPr>
        <p:spPr>
          <a:xfrm xmlns:a="http://schemas.openxmlformats.org/drawingml/2006/main">
            <a:off x="809625" y="18288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BBF77"/>
                </a:solidFill>
                <a:latin typeface="Helvetica Neue"/>
                <a:ea typeface="Helvetica Neue"/>
                <a:cs typeface="Helvetica Neue"/>
              </a:defRPr>
            </a:pPr>
            <a:r>
              <a:rPr sz="1950" b="1">
                <a:solidFill>
                  <a:srgbClr val="FBBF77"/>
                </a:solidFill>
                <a:latin typeface="Helvetica Neue"/>
                <a:ea typeface="Helvetica Neue"/>
                <a:cs typeface="Helvetica Neue"/>
              </a:rPr>
              <a:t>AI use and accountability</a:t>
            </a:r>
          </a:p>
        </p:txBody>
      </p:sp>
      <p:sp>
        <p:nvSpPr>
          <p:cNvPr id="4" name="">
            <a:extLst xmlns:a="http://schemas.openxmlformats.org/drawingml/2006/main">
              <a:ext uri="{FF2B5EF4-FFF2-40B4-BE49-F238E27FC236}">
                <a16:creationId xmlns:a16="http://schemas.microsoft.com/office/drawing/2014/main" id="{85FCE9B6-592E-4260-A8B1-FF500DA4A8F4}"/>
              </a:ext>
            </a:extLst>
          </p:cNvPr>
          <p:cNvSpPr>
            <a:spLocks xmlns:a="http://schemas.openxmlformats.org/drawingml/2006/main" noGrp="1"/>
          </p:cNvSpPr>
          <p:nvPr/>
        </p:nvSpPr>
        <p:spPr>
          <a:xfrm xmlns:a="http://schemas.openxmlformats.org/drawingml/2006/main">
            <a:off x="809625" y="2371725"/>
            <a:ext cx="50958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I used Codex, Opus 5.5, Astra and Luna.</a:t>
            </a:r>
          </a:p>
          <a:p xmlns:a="http://schemas.openxmlformats.org/drawingml/2006/main">
            <a:pPr>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My effort before final review: about 6–8 hours.</a:t>
            </a:r>
          </a:p>
          <a:p xmlns:a="http://schemas.openxmlformats.org/drawingml/2006/main">
            <a:pPr>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I reviewed the data and visuals. Codex ran</a:t>
            </a:r>
          </a:p>
          <a:p xmlns:a="http://schemas.openxmlformats.org/drawingml/2006/main">
            <a:pPr>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the automated checks listed in AI_USAGE.md.</a:t>
            </a:r>
          </a:p>
        </p:txBody>
      </p:sp>
      <p:sp>
        <p:nvSpPr>
          <p:cNvPr id="5" name="">
            <a:extLst xmlns:a="http://schemas.openxmlformats.org/drawingml/2006/main">
              <a:ext uri="{FF2B5EF4-FFF2-40B4-BE49-F238E27FC236}">
                <a16:creationId xmlns:a16="http://schemas.microsoft.com/office/drawing/2014/main" id="{628D67FD-5846-4794-9E51-1EC886190FC9}"/>
              </a:ext>
            </a:extLst>
          </p:cNvPr>
          <p:cNvSpPr>
            <a:spLocks xmlns:a="http://schemas.openxmlformats.org/drawingml/2006/main" noGrp="1"/>
          </p:cNvSpPr>
          <p:nvPr/>
        </p:nvSpPr>
        <p:spPr>
          <a:xfrm xmlns:a="http://schemas.openxmlformats.org/drawingml/2006/main">
            <a:off x="809625" y="4181475"/>
            <a:ext cx="509587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D9E2EC"/>
                </a:solidFill>
                <a:latin typeface="Helvetica Neue"/>
                <a:ea typeface="Helvetica Neue"/>
                <a:cs typeface="Helvetica Neue"/>
              </a:defRPr>
            </a:pPr>
            <a:r>
              <a:rPr sz="1650" b="0">
                <a:solidFill>
                  <a:srgbClr val="D9E2EC"/>
                </a:solidFill>
                <a:latin typeface="Helvetica Neue"/>
                <a:ea typeface="Helvetica Neue"/>
                <a:cs typeface="Helvetica Neue"/>
              </a:rPr>
              <a:t>Review corrected duplicate-inflated cohorts,</a:t>
            </a:r>
          </a:p>
          <a:p xmlns:a="http://schemas.openxmlformats.org/drawingml/2006/main">
            <a:pPr>
              <a:buNone/>
              <a:defRPr sz="1650" b="0">
                <a:solidFill>
                  <a:srgbClr val="D9E2EC"/>
                </a:solidFill>
                <a:latin typeface="Helvetica Neue"/>
                <a:ea typeface="Helvetica Neue"/>
                <a:cs typeface="Helvetica Neue"/>
              </a:defRPr>
            </a:pPr>
            <a:r>
              <a:rPr sz="1650" b="0">
                <a:solidFill>
                  <a:srgbClr val="D9E2EC"/>
                </a:solidFill>
                <a:latin typeface="Helvetica Neue"/>
                <a:ea typeface="Helvetica Neue"/>
                <a:cs typeface="Helvetica Neue"/>
              </a:rPr>
              <a:t>failing tests and a keyboard-tooltip defect.</a:t>
            </a:r>
          </a:p>
          <a:p xmlns:a="http://schemas.openxmlformats.org/drawingml/2006/main">
            <a:pPr>
              <a:buNone/>
              <a:defRPr sz="1650" b="0">
                <a:solidFill>
                  <a:srgbClr val="D9E2EC"/>
                </a:solidFill>
                <a:latin typeface="Helvetica Neue"/>
                <a:ea typeface="Helvetica Neue"/>
                <a:cs typeface="Helvetica Neue"/>
              </a:defRPr>
            </a:pPr>
            <a:r>
              <a:rPr sz="1650" b="0">
                <a:solidFill>
                  <a:srgbClr val="D9E2EC"/>
                </a:solidFill>
                <a:latin typeface="Helvetica Neue"/>
                <a:ea typeface="Helvetica Neue"/>
                <a:cs typeface="Helvetica Neue"/>
              </a:rPr>
              <a:t>An unsupported correlation claim was replaced</a:t>
            </a:r>
          </a:p>
          <a:p xmlns:a="http://schemas.openxmlformats.org/drawingml/2006/main">
            <a:pPr>
              <a:buNone/>
              <a:defRPr sz="1650" b="0">
                <a:solidFill>
                  <a:srgbClr val="D9E2EC"/>
                </a:solidFill>
                <a:latin typeface="Helvetica Neue"/>
                <a:ea typeface="Helvetica Neue"/>
                <a:cs typeface="Helvetica Neue"/>
              </a:defRPr>
            </a:pPr>
            <a:r>
              <a:rPr sz="1650" b="0">
                <a:solidFill>
                  <a:srgbClr val="D9E2EC"/>
                </a:solidFill>
                <a:latin typeface="Helvetica Neue"/>
                <a:ea typeface="Helvetica Neue"/>
                <a:cs typeface="Helvetica Neue"/>
              </a:rPr>
              <a:t>with measured results and uncertainty.</a:t>
            </a:r>
          </a:p>
        </p:txBody>
      </p:sp>
      <p:sp>
        <p:nvSpPr>
          <p:cNvPr id="6" name="">
            <a:extLst xmlns:a="http://schemas.openxmlformats.org/drawingml/2006/main">
              <a:ext uri="{FF2B5EF4-FFF2-40B4-BE49-F238E27FC236}">
                <a16:creationId xmlns:a16="http://schemas.microsoft.com/office/drawing/2014/main" id="{8B80E67F-85CD-4A8F-B60C-7DF1F726E35B}"/>
              </a:ext>
            </a:extLst>
          </p:cNvPr>
          <p:cNvSpPr>
            <a:spLocks xmlns:a="http://schemas.openxmlformats.org/drawingml/2006/main" noGrp="1"/>
          </p:cNvSpPr>
          <p:nvPr/>
        </p:nvSpPr>
        <p:spPr>
          <a:xfrm xmlns:a="http://schemas.openxmlformats.org/drawingml/2006/main">
            <a:off x="6762750" y="182880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BBF77"/>
                </a:solidFill>
                <a:latin typeface="Helvetica Neue"/>
                <a:ea typeface="Helvetica Neue"/>
                <a:cs typeface="Helvetica Neue"/>
              </a:defRPr>
            </a:pPr>
            <a:r>
              <a:rPr sz="1950" b="1">
                <a:solidFill>
                  <a:srgbClr val="FBBF77"/>
                </a:solidFill>
                <a:latin typeface="Helvetica Neue"/>
                <a:ea typeface="Helvetica Neue"/>
                <a:cs typeface="Helvetica Neue"/>
              </a:rPr>
              <a:t>What I would add next</a:t>
            </a:r>
          </a:p>
        </p:txBody>
      </p:sp>
      <p:sp>
        <p:nvSpPr>
          <p:cNvPr id="7" name="">
            <a:extLst xmlns:a="http://schemas.openxmlformats.org/drawingml/2006/main">
              <a:ext uri="{FF2B5EF4-FFF2-40B4-BE49-F238E27FC236}">
                <a16:creationId xmlns:a16="http://schemas.microsoft.com/office/drawing/2014/main" id="{4CBF86AB-265D-490F-A138-A15594445E40}"/>
              </a:ext>
            </a:extLst>
          </p:cNvPr>
          <p:cNvSpPr>
            <a:spLocks xmlns:a="http://schemas.openxmlformats.org/drawingml/2006/main" noGrp="1"/>
          </p:cNvSpPr>
          <p:nvPr/>
        </p:nvSpPr>
        <p:spPr>
          <a:xfrm xmlns:a="http://schemas.openxmlformats.org/drawingml/2006/main">
            <a:off x="6762750" y="2371725"/>
            <a:ext cx="466725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Historical source vintages and career histories</a:t>
            </a:r>
          </a:p>
          <a:p xmlns:a="http://schemas.openxmlformats.org/drawingml/2006/main">
            <a:r>
              <a:t/>
            </a:r>
          </a:p>
          <a:p xmlns:a="http://schemas.openxmlformats.org/drawingml/2006/main">
            <a:pPr>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Resolve unknown exit classifications</a:t>
            </a:r>
          </a:p>
          <a:p xmlns:a="http://schemas.openxmlformats.org/drawingml/2006/main">
            <a:r>
              <a:t/>
            </a:r>
          </a:p>
          <a:p xmlns:a="http://schemas.openxmlformats.org/drawingml/2006/main">
            <a:pPr>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Pre-specify relationships; collect more</a:t>
            </a:r>
          </a:p>
          <a:p xmlns:a="http://schemas.openxmlformats.org/drawingml/2006/main">
            <a:pPr>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independent observations</a:t>
            </a:r>
          </a:p>
          <a:p xmlns:a="http://schemas.openxmlformats.org/drawingml/2006/main">
            <a:r>
              <a:t/>
            </a:r>
          </a:p>
          <a:p xmlns:a="http://schemas.openxmlformats.org/drawingml/2006/main">
            <a:pPr>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Governed access and monitored orchestration</a:t>
            </a:r>
          </a:p>
        </p:txBody>
      </p:sp>
      <p:sp>
        <p:nvSpPr>
          <p:cNvPr id="8" name="">
            <a:extLst xmlns:a="http://schemas.openxmlformats.org/drawingml/2006/main">
              <a:ext uri="{FF2B5EF4-FFF2-40B4-BE49-F238E27FC236}">
                <a16:creationId xmlns:a16="http://schemas.microsoft.com/office/drawing/2014/main" id="{ED364441-7158-4AC9-9379-A6C2F29C4DC4}"/>
              </a:ext>
            </a:extLst>
          </p:cNvPr>
          <p:cNvSpPr>
            <a:spLocks xmlns:a="http://schemas.openxmlformats.org/drawingml/2006/main" noGrp="1"/>
          </p:cNvSpPr>
          <p:nvPr/>
        </p:nvSpPr>
        <p:spPr>
          <a:xfrm xmlns:a="http://schemas.openxmlformats.org/drawingml/2006/main">
            <a:off x="809625" y="61531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D9E2EC"/>
                </a:solidFill>
                <a:latin typeface="Helvetica Neue"/>
                <a:ea typeface="Helvetica Neue"/>
                <a:cs typeface="Helvetica Neue"/>
              </a:defRPr>
            </a:pPr>
            <a:r>
              <a:rPr sz="1500" b="0">
                <a:solidFill>
                  <a:srgbClr val="D9E2EC"/>
                </a:solidFill>
                <a:latin typeface="Helvetica Neue"/>
                <a:ea typeface="Helvetica Neue"/>
                <a:cs typeface="Helvetica Neue"/>
              </a:rPr>
              <a:t>Q&amp;A: demonstrate a boundary test, SQL target status or dashboard filters</a:t>
            </a:r>
          </a:p>
        </p:txBody>
      </p:sp>
    </p:spTree>
    <p:extLst>
      <p:ext uri="{BB962C8B-B14F-4D97-AF65-F5344CB8AC3E}">
        <p14:creationId xmlns:p14="http://schemas.microsoft.com/office/powerpoint/2010/main" val="807777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2026-09-28T10:14:13.5500000Z</dcterms:created>
  <dcterms:modified xsi:type="dcterms:W3CDTF">2026-09-28T10:14:13.5500000Z</dcterms:modified>
</coreProperties>
</file>